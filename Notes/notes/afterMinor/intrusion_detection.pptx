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 autoCompressPictures="0">
  <p:sldMasterIdLst>
    <p:sldMasterId id="2147483649" r:id="rId1"/>
  </p:sldMasterIdLst>
  <p:handoutMasterIdLst>
    <p:handoutMasterId r:id="rId36"/>
  </p:handoutMasterIdLst>
  <p:sldIdLst>
    <p:sldId id="332" r:id="rId2"/>
    <p:sldId id="333" r:id="rId3"/>
    <p:sldId id="334" r:id="rId4"/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1" r:id="rId20"/>
    <p:sldId id="352" r:id="rId21"/>
    <p:sldId id="353" r:id="rId22"/>
    <p:sldId id="355" r:id="rId23"/>
    <p:sldId id="356" r:id="rId24"/>
    <p:sldId id="357" r:id="rId25"/>
    <p:sldId id="354" r:id="rId26"/>
    <p:sldId id="358" r:id="rId27"/>
    <p:sldId id="359" r:id="rId28"/>
    <p:sldId id="360" r:id="rId29"/>
    <p:sldId id="361" r:id="rId30"/>
    <p:sldId id="362" r:id="rId31"/>
    <p:sldId id="363" r:id="rId32"/>
    <p:sldId id="364" r:id="rId33"/>
    <p:sldId id="365" r:id="rId34"/>
    <p:sldId id="366" r:id="rId35"/>
  </p:sldIdLst>
  <p:sldSz cx="9144000" cy="6858000" type="screen4x3"/>
  <p:notesSz cx="6858000" cy="9144000"/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15620"/>
    <p:restoredTop sz="94660"/>
  </p:normalViewPr>
  <p:slideViewPr>
    <p:cSldViewPr>
      <p:cViewPr varScale="1">
        <p:scale>
          <a:sx n="128" d="100"/>
          <a:sy n="128" d="100"/>
        </p:scale>
        <p:origin x="976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3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B4435226-8D66-73C1-2BCF-1B1338FCCD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3A7F8B52-C97D-A6DD-A7DB-7B394FA57CB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altLang="en-US"/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051E8530-EBDD-122E-BC43-CCFEB721E35F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US" altLang="en-US"/>
          </a:p>
        </p:txBody>
      </p:sp>
      <p:sp>
        <p:nvSpPr>
          <p:cNvPr id="74757" name="Rectangle 5">
            <a:extLst>
              <a:ext uri="{FF2B5EF4-FFF2-40B4-BE49-F238E27FC236}">
                <a16:creationId xmlns:a16="http://schemas.microsoft.com/office/drawing/2014/main" id="{57FC85B2-598E-B1B0-A988-05D78807998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D80A0D4-6F7E-2448-AAD4-B7ADAA5FCFB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accent4">
                <a:lumMod val="75000"/>
              </a:schemeClr>
            </a:gs>
            <a:gs pos="50000">
              <a:schemeClr val="accent4">
                <a:lumMod val="75000"/>
              </a:schemeClr>
            </a:gs>
            <a:gs pos="100000">
              <a:schemeClr val="accent4">
                <a:lumMod val="7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>
            <a:extLst>
              <a:ext uri="{FF2B5EF4-FFF2-40B4-BE49-F238E27FC236}">
                <a16:creationId xmlns:a16="http://schemas.microsoft.com/office/drawing/2014/main" id="{F671B654-F995-D994-14C0-405E20CBA85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828800" cy="6856413"/>
            <a:chOff x="0" y="0"/>
            <a:chExt cx="1152" cy="4319"/>
          </a:xfrm>
        </p:grpSpPr>
        <p:sp>
          <p:nvSpPr>
            <p:cNvPr id="3075" name="Rectangle 3">
              <a:extLst>
                <a:ext uri="{FF2B5EF4-FFF2-40B4-BE49-F238E27FC236}">
                  <a16:creationId xmlns:a16="http://schemas.microsoft.com/office/drawing/2014/main" id="{0F7E5F35-7B33-6CFE-2486-0CFB160A5A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152" cy="102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3076" name="Rectangle 4">
              <a:extLst>
                <a:ext uri="{FF2B5EF4-FFF2-40B4-BE49-F238E27FC236}">
                  <a16:creationId xmlns:a16="http://schemas.microsoft.com/office/drawing/2014/main" id="{96AEE046-DA16-FBE3-4D8D-1734EDE46E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400"/>
              <a:ext cx="1152" cy="1919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50000"/>
                </a:spcBef>
              </a:pPr>
              <a:endParaRPr lang="en-US" altLang="en-US"/>
            </a:p>
          </p:txBody>
        </p:sp>
        <p:pic>
          <p:nvPicPr>
            <p:cNvPr id="3077" name="Picture 5">
              <a:extLst>
                <a:ext uri="{FF2B5EF4-FFF2-40B4-BE49-F238E27FC236}">
                  <a16:creationId xmlns:a16="http://schemas.microsoft.com/office/drawing/2014/main" id="{D8EF2C40-37B3-8F54-6BA1-34E8938E50E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1028"/>
              <a:ext cx="1152" cy="1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3083" name="Rectangle 11">
            <a:extLst>
              <a:ext uri="{FF2B5EF4-FFF2-40B4-BE49-F238E27FC236}">
                <a16:creationId xmlns:a16="http://schemas.microsoft.com/office/drawing/2014/main" id="{16C1C897-A35A-7F8A-C229-01028C2C377B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1905000" y="1676400"/>
            <a:ext cx="6934200" cy="21161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3084" name="Rectangle 12">
            <a:extLst>
              <a:ext uri="{FF2B5EF4-FFF2-40B4-BE49-F238E27FC236}">
                <a16:creationId xmlns:a16="http://schemas.microsoft.com/office/drawing/2014/main" id="{1418457A-590B-C719-9404-3C02DEFB654D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911350" y="3968750"/>
            <a:ext cx="6400800" cy="1752600"/>
          </a:xfrm>
        </p:spPr>
        <p:txBody>
          <a:bodyPr/>
          <a:lstStyle>
            <a:lvl1pPr marL="0" indent="0">
              <a:buFont typeface="Symbol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3085" name="Rectangle 13">
            <a:extLst>
              <a:ext uri="{FF2B5EF4-FFF2-40B4-BE49-F238E27FC236}">
                <a16:creationId xmlns:a16="http://schemas.microsoft.com/office/drawing/2014/main" id="{63C66952-4A3B-F07C-E2C9-088F4C3027C0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>
          <a:xfrm>
            <a:off x="18288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086" name="Rectangle 14">
            <a:extLst>
              <a:ext uri="{FF2B5EF4-FFF2-40B4-BE49-F238E27FC236}">
                <a16:creationId xmlns:a16="http://schemas.microsoft.com/office/drawing/2014/main" id="{4738EBB0-8FEE-9E74-1DAE-3F5DF25C21F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9624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087" name="Rectangle 15">
            <a:extLst>
              <a:ext uri="{FF2B5EF4-FFF2-40B4-BE49-F238E27FC236}">
                <a16:creationId xmlns:a16="http://schemas.microsoft.com/office/drawing/2014/main" id="{7F6D830F-3227-2AAE-AA9B-12C1A70A844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BECDED6-31E9-A244-B18D-0E2000EC12F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4A5D4-5205-B253-4BB6-B05757061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6DEF5-98C9-8A48-5EC4-EBD1A4549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E65D9-DD63-C2F0-5D86-43D3ECC1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5A3B4-85EF-B7FD-FF9C-6183CBCEE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790F8-8C6F-E2ED-59D4-04872E94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46E7B3-4010-6A4D-A598-A09574D3EB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30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7C0C-F039-EB14-46C5-0217339E9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60F83F-A528-DE02-027D-58BCFD984C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5B29B-F2BA-C902-57A5-5EA425C3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E8116-9971-E3C4-9169-3D1B5C884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B05A-CD93-2C33-FD8E-4A8AFAE0D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F9B3C-0403-1940-98EB-9E6E4050E0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5145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EC032-5620-E4D0-8AEC-E8ED5A9FE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E9BC3-3000-40F0-C0F1-BD63704FE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1600200"/>
            <a:ext cx="3810000" cy="4495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4FF22F-1FE7-4EEC-62A9-2B137213A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1600" y="1600200"/>
            <a:ext cx="3810000" cy="4495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B1839-2CEB-A6F0-F857-E8493507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D01F2-744F-4633-C975-174386E30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32B1C-DBF1-3DF6-4B8F-113F92880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155567-92B4-0A49-AFB9-066FFC4C01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3297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3FAC7-79CF-CB3A-3EAC-2444DE50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A5ACD-5343-AB0B-EC33-BBE0CB78D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FBDF3-E56A-84C4-F3C8-74F659467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5D0FA0-F356-7199-788E-F021575CA2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12DEA-E469-E31E-9C53-73E3EFA5B0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043200-609A-7E6C-6D5C-2B3562D6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2B2583-CB5E-79C8-783C-223CD0F9F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6B15F4-E934-28EC-9D79-53ED59664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932846-71E4-5B46-8214-022A9C62FC0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6535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C1858-700B-CC1A-062A-369B055A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86985-C661-925A-E316-0F955504F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C05D6C-1694-39C8-1FF7-F76FE15C1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71AD33-51D5-E72D-03AB-00E9DDC2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65C521-D4C9-6942-935B-5DD4955E6D2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1144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 rotWithShape="0">
          <a:gsLst>
            <a:gs pos="0">
              <a:schemeClr val="accent4">
                <a:lumMod val="75000"/>
              </a:schemeClr>
            </a:gs>
            <a:gs pos="100000">
              <a:schemeClr val="bg2"/>
            </a:gs>
          </a:gsLst>
          <a:path path="shape">
            <a:fillToRect l="14166" t="5554" r="835" b="77779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8ED28-9625-CFDA-C739-4DCFDBBB2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C740F2-89B8-9439-74F7-DB07733B7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0DC15-012C-2AE2-8641-64C4F3E95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FC29EF-644E-8045-ACF8-5BB8B4794A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7392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237CD-E47D-1A96-31AD-2AAB3D5E8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52696-B91B-97CE-6A16-287D2C9A0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E66804-14C6-644C-C3FF-446DD6F80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0ABF9E-9FEF-9984-C45D-C0D6D0657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572C3-0576-E89E-713D-5DFFE9593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549B7-F64A-D2B3-2058-BE78371BA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A92DE8-BB76-5D4C-AA04-AC69D4919D5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37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48AD8-E191-D1F7-291F-512D74D89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F5470-92E2-1179-CBD2-0B9BB5AE65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1DE8F-56ED-D576-20DC-F9F8D5DEB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E99D6-6116-05F5-D08E-AB4A2720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DFA42-2002-8913-A4D9-729C2B6FE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9734C-22DC-A872-5F53-AF782732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6F5958-A36B-2442-AE8E-0D29AB29186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2630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A7F886-3B30-73E3-2359-657A868D0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3AC34-AA25-A1AD-BCDC-9BBD29360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A5D666-BF93-FB28-1808-11C17B1D6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227FD-7B9D-0D15-DA30-5D4B00785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F6146-3A73-C988-BD08-C2E257478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483B4C-16FD-3246-8E93-3F2BBB13DCE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1365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551FB3-85A1-ECAF-7DA3-88B3B83781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48500" y="304800"/>
            <a:ext cx="1943100" cy="57912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0905B-2EE9-6FBD-5197-DD6C6EEBC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19200" y="304800"/>
            <a:ext cx="5676900" cy="57912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F55E0-2C64-4333-2343-839DA6410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69A28-EA1F-CEB5-2090-DD392EDE3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5090F-9B63-1DD7-86F2-7F8B6FA7C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BF627A-BD4D-CB4C-B7BA-5422CBD8FE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75649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86907-7FD7-65A4-1E12-951C6EB4E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04800"/>
            <a:ext cx="7772400" cy="1206500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E8AB8EF0-ED0F-5700-0C11-C78410BA12D6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1219200" y="1600200"/>
            <a:ext cx="7772400" cy="4495800"/>
          </a:xfrm>
        </p:spPr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BB015-69CD-FA2A-001F-BE81B445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3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9184B-66E1-3F71-E925-6A67DD978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814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9FE03-77C0-2FDB-D470-83D73620B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258AEA1-67F5-A041-AA76-36884FDE0C6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57475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accent4">
                <a:lumMod val="75000"/>
              </a:schemeClr>
            </a:gs>
            <a:gs pos="100000">
              <a:schemeClr val="bg2"/>
            </a:gs>
          </a:gsLst>
          <a:path path="shape">
            <a:fillToRect l="14166" t="5554" r="835" b="77779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>
            <a:extLst>
              <a:ext uri="{FF2B5EF4-FFF2-40B4-BE49-F238E27FC236}">
                <a16:creationId xmlns:a16="http://schemas.microsoft.com/office/drawing/2014/main" id="{14D1B1CC-FF8E-F6C0-EC4B-A6C837D836DE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1143000" cy="6856413"/>
            <a:chOff x="0" y="0"/>
            <a:chExt cx="720" cy="4319"/>
          </a:xfrm>
        </p:grpSpPr>
        <p:sp>
          <p:nvSpPr>
            <p:cNvPr id="2051" name="Rectangle 3">
              <a:extLst>
                <a:ext uri="{FF2B5EF4-FFF2-40B4-BE49-F238E27FC236}">
                  <a16:creationId xmlns:a16="http://schemas.microsoft.com/office/drawing/2014/main" id="{BA9C0393-99F6-7BCA-8DAB-2C5F88A65B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720" cy="33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50000"/>
                </a:spcBef>
              </a:pPr>
              <a:endParaRPr lang="en-US" altLang="en-US"/>
            </a:p>
          </p:txBody>
        </p:sp>
        <p:sp>
          <p:nvSpPr>
            <p:cNvPr id="2052" name="Rectangle 4">
              <a:extLst>
                <a:ext uri="{FF2B5EF4-FFF2-40B4-BE49-F238E27FC236}">
                  <a16:creationId xmlns:a16="http://schemas.microsoft.com/office/drawing/2014/main" id="{B4C0B21A-99D7-CBA3-9DD3-26B33FF949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016"/>
              <a:ext cx="720" cy="2303"/>
            </a:xfrm>
            <a:prstGeom prst="rect">
              <a:avLst/>
            </a:prstGeom>
            <a:gradFill rotWithShape="0">
              <a:gsLst>
                <a:gs pos="0">
                  <a:schemeClr val="accent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algn="l" eaLnBrk="0" hangingPunct="0">
                <a:spcBef>
                  <a:spcPct val="50000"/>
                </a:spcBef>
              </a:pPr>
              <a:endParaRPr lang="en-US" altLang="en-US"/>
            </a:p>
          </p:txBody>
        </p:sp>
        <p:pic>
          <p:nvPicPr>
            <p:cNvPr id="2053" name="Picture 5">
              <a:extLst>
                <a:ext uri="{FF2B5EF4-FFF2-40B4-BE49-F238E27FC236}">
                  <a16:creationId xmlns:a16="http://schemas.microsoft.com/office/drawing/2014/main" id="{D5A60BA2-20C1-2662-F9DE-13F34E60EC9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312"/>
              <a:ext cx="720" cy="18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</p:grpSp>
      <p:sp>
        <p:nvSpPr>
          <p:cNvPr id="2059" name="Rectangle 11">
            <a:extLst>
              <a:ext uri="{FF2B5EF4-FFF2-40B4-BE49-F238E27FC236}">
                <a16:creationId xmlns:a16="http://schemas.microsoft.com/office/drawing/2014/main" id="{3DD2BA86-D7A8-3CBB-A556-94D166896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304800"/>
            <a:ext cx="77724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060" name="Rectangle 12">
            <a:extLst>
              <a:ext uri="{FF2B5EF4-FFF2-40B4-BE49-F238E27FC236}">
                <a16:creationId xmlns:a16="http://schemas.microsoft.com/office/drawing/2014/main" id="{7703CE88-71AB-4603-4FA8-A96FC10EE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19200" y="1600200"/>
            <a:ext cx="77724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61" name="Rectangle 13">
            <a:extLst>
              <a:ext uri="{FF2B5EF4-FFF2-40B4-BE49-F238E27FC236}">
                <a16:creationId xmlns:a16="http://schemas.microsoft.com/office/drawing/2014/main" id="{72BFC0E0-11AB-3058-0FB6-2756268CBC7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43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endParaRPr lang="en-US" altLang="en-US"/>
          </a:p>
        </p:txBody>
      </p:sp>
      <p:sp>
        <p:nvSpPr>
          <p:cNvPr id="2062" name="Rectangle 14">
            <a:extLst>
              <a:ext uri="{FF2B5EF4-FFF2-40B4-BE49-F238E27FC236}">
                <a16:creationId xmlns:a16="http://schemas.microsoft.com/office/drawing/2014/main" id="{C7FD7460-EC97-4FDE-2382-3CB01A26795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en-US"/>
          </a:p>
        </p:txBody>
      </p:sp>
      <p:sp>
        <p:nvSpPr>
          <p:cNvPr id="2063" name="Rectangle 15">
            <a:extLst>
              <a:ext uri="{FF2B5EF4-FFF2-40B4-BE49-F238E27FC236}">
                <a16:creationId xmlns:a16="http://schemas.microsoft.com/office/drawing/2014/main" id="{BB8DEF25-4628-586F-A8FF-99EE29B892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809FADB6-7CC5-3F4B-BA50-5AC35932050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40000"/>
        </a:spcBef>
        <a:spcAft>
          <a:spcPct val="0"/>
        </a:spcAft>
        <a:buClr>
          <a:schemeClr val="tx2"/>
        </a:buClr>
        <a:buSzPct val="90000"/>
        <a:buFont typeface="Symbol" pitchFamily="2" charset="2"/>
        <a:buChar char="¨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Text Box 2">
            <a:extLst>
              <a:ext uri="{FF2B5EF4-FFF2-40B4-BE49-F238E27FC236}">
                <a16:creationId xmlns:a16="http://schemas.microsoft.com/office/drawing/2014/main" id="{17D7474F-FA84-78DE-00D9-CEB5A67E6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3863" y="2743200"/>
            <a:ext cx="4389437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400">
                <a:solidFill>
                  <a:schemeClr val="tx2"/>
                </a:solidFill>
              </a:rPr>
              <a:t>Intrusion detection</a:t>
            </a:r>
            <a:endParaRPr lang="en-US" altLang="en-US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2">
            <a:extLst>
              <a:ext uri="{FF2B5EF4-FFF2-40B4-BE49-F238E27FC236}">
                <a16:creationId xmlns:a16="http://schemas.microsoft.com/office/drawing/2014/main" id="{69FD3AB2-5789-A8A9-DDEC-77B01BC332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Prevention vs. detection</a:t>
            </a:r>
          </a:p>
        </p:txBody>
      </p:sp>
      <p:sp>
        <p:nvSpPr>
          <p:cNvPr id="273411" name="Rectangle 3">
            <a:extLst>
              <a:ext uri="{FF2B5EF4-FFF2-40B4-BE49-F238E27FC236}">
                <a16:creationId xmlns:a16="http://schemas.microsoft.com/office/drawing/2014/main" id="{F21DA1B9-1B20-0D1D-75BA-2745BFF5DD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Firewalls (and other security mechanisms) aim to </a:t>
            </a:r>
            <a:r>
              <a:rPr lang="en-US" altLang="en-US" i="1" dirty="0"/>
              <a:t>prevent</a:t>
            </a:r>
            <a:r>
              <a:rPr lang="en-US" altLang="en-US" dirty="0"/>
              <a:t> intrusion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IDS aims to </a:t>
            </a:r>
            <a:r>
              <a:rPr lang="en-US" altLang="en-US" i="1" dirty="0"/>
              <a:t>detect</a:t>
            </a:r>
            <a:r>
              <a:rPr lang="en-US" altLang="en-US" dirty="0"/>
              <a:t> intrusion in case it occurs</a:t>
            </a:r>
          </a:p>
          <a:p>
            <a:pPr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Use both in tandem!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Defense in depth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Full prevention impossible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sooner intrusion is detected, the less the damage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IDS can also be a deterrent, and can be use to detect weaknesses in other security mechanisms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2">
            <a:extLst>
              <a:ext uri="{FF2B5EF4-FFF2-40B4-BE49-F238E27FC236}">
                <a16:creationId xmlns:a16="http://schemas.microsoft.com/office/drawing/2014/main" id="{51082DB9-229E-7740-DC20-1FDDB114B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IDS overview</a:t>
            </a:r>
          </a:p>
        </p:txBody>
      </p:sp>
      <p:sp>
        <p:nvSpPr>
          <p:cNvPr id="274435" name="Rectangle 3">
            <a:extLst>
              <a:ext uri="{FF2B5EF4-FFF2-40B4-BE49-F238E27FC236}">
                <a16:creationId xmlns:a16="http://schemas.microsoft.com/office/drawing/2014/main" id="{030576E0-73A6-624C-6601-225C14A1EC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Goals of IDS</a:t>
            </a:r>
          </a:p>
          <a:p>
            <a:pPr lvl="1"/>
            <a:r>
              <a:rPr lang="en-US" altLang="en-US"/>
              <a:t>Detection and response</a:t>
            </a:r>
          </a:p>
          <a:p>
            <a:pPr lvl="1"/>
            <a:r>
              <a:rPr lang="en-US" altLang="en-US"/>
              <a:t>Deterrence</a:t>
            </a:r>
          </a:p>
          <a:p>
            <a:pPr lvl="1"/>
            <a:r>
              <a:rPr lang="en-US" altLang="en-US"/>
              <a:t>Recovery</a:t>
            </a:r>
          </a:p>
          <a:p>
            <a:pPr lvl="1"/>
            <a:r>
              <a:rPr lang="en-US" altLang="en-US"/>
              <a:t>Defense against future attacks</a:t>
            </a:r>
          </a:p>
          <a:p>
            <a:pPr>
              <a:buFont typeface="Symbol" pitchFamily="2" charset="2"/>
              <a:buNone/>
            </a:pPr>
            <a:endParaRPr lang="en-US" altLang="en-US"/>
          </a:p>
          <a:p>
            <a:r>
              <a:rPr lang="en-US" altLang="en-US"/>
              <a:t>Two classes of behavior to be detected</a:t>
            </a:r>
          </a:p>
          <a:p>
            <a:pPr lvl="1"/>
            <a:r>
              <a:rPr lang="en-US" altLang="en-US"/>
              <a:t>Illegal access by outsiders</a:t>
            </a:r>
          </a:p>
          <a:p>
            <a:pPr lvl="1"/>
            <a:r>
              <a:rPr lang="en-US" altLang="en-US"/>
              <a:t>Illegal access by insiders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4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443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7FEEE1AB-A7C8-D6A2-F652-5C5BBCEC84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IDS tradeoff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EAD0DDEA-CDD9-F81B-3215-5F4F97F463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IDS based on the assumption that </a:t>
            </a:r>
            <a:r>
              <a:rPr lang="en-US" altLang="en-US" i="1"/>
              <a:t>attacker behavior is (sufficiently) different from legitimate user behavior</a:t>
            </a:r>
            <a:endParaRPr lang="en-US" altLang="en-US"/>
          </a:p>
          <a:p>
            <a:r>
              <a:rPr lang="en-US" altLang="en-US"/>
              <a:t>In reality, there will be overlap</a:t>
            </a:r>
          </a:p>
          <a:p>
            <a:pPr lvl="1"/>
            <a:r>
              <a:rPr lang="en-US" altLang="en-US"/>
              <a:t>Some legitimate behavior may appear malicious</a:t>
            </a:r>
          </a:p>
          <a:p>
            <a:pPr lvl="1"/>
            <a:r>
              <a:rPr lang="en-US" altLang="en-US"/>
              <a:t>Intruder can attempt to disguise their behavior as that of an honest user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2">
            <a:extLst>
              <a:ext uri="{FF2B5EF4-FFF2-40B4-BE49-F238E27FC236}">
                <a16:creationId xmlns:a16="http://schemas.microsoft.com/office/drawing/2014/main" id="{A2047756-D9E2-0626-8A12-838D6864F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False positives/negatives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1BBC49AB-E144-527F-2A99-6DB21192B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False positive</a:t>
            </a:r>
          </a:p>
          <a:p>
            <a:pPr lvl="1"/>
            <a:r>
              <a:rPr lang="en-US" altLang="en-US"/>
              <a:t>Alarm triggered by acceptable behavior</a:t>
            </a:r>
          </a:p>
          <a:p>
            <a:r>
              <a:rPr lang="en-US" altLang="en-US"/>
              <a:t>False negative</a:t>
            </a:r>
          </a:p>
          <a:p>
            <a:pPr lvl="1"/>
            <a:r>
              <a:rPr lang="en-US" altLang="en-US"/>
              <a:t>No alarm triggered by illegal behavior</a:t>
            </a:r>
          </a:p>
          <a:p>
            <a:r>
              <a:rPr lang="en-US" altLang="en-US"/>
              <a:t>Always a tradeoff between the two…</a:t>
            </a:r>
          </a:p>
          <a:p>
            <a:pPr lvl="1"/>
            <a:r>
              <a:rPr lang="en-US" altLang="en-US"/>
              <a:t>Note: credit card companies face the same tradeoff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506" name="Group 2">
            <a:extLst>
              <a:ext uri="{FF2B5EF4-FFF2-40B4-BE49-F238E27FC236}">
                <a16:creationId xmlns:a16="http://schemas.microsoft.com/office/drawing/2014/main" id="{C24B9CFF-54E6-F566-2EE7-25455481D92E}"/>
              </a:ext>
            </a:extLst>
          </p:cNvPr>
          <p:cNvGrpSpPr>
            <a:grpSpLocks/>
          </p:cNvGrpSpPr>
          <p:nvPr/>
        </p:nvGrpSpPr>
        <p:grpSpPr bwMode="auto">
          <a:xfrm>
            <a:off x="933450" y="1425575"/>
            <a:ext cx="7705725" cy="4033838"/>
            <a:chOff x="168" y="828"/>
            <a:chExt cx="5244" cy="2745"/>
          </a:xfrm>
        </p:grpSpPr>
        <p:grpSp>
          <p:nvGrpSpPr>
            <p:cNvPr id="277507" name="Group 3">
              <a:extLst>
                <a:ext uri="{FF2B5EF4-FFF2-40B4-BE49-F238E27FC236}">
                  <a16:creationId xmlns:a16="http://schemas.microsoft.com/office/drawing/2014/main" id="{3ED82506-23FD-32B1-5898-F6867257C1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7" y="1192"/>
              <a:ext cx="4416" cy="2381"/>
              <a:chOff x="839" y="1168"/>
              <a:chExt cx="4044" cy="2381"/>
            </a:xfrm>
          </p:grpSpPr>
          <p:grpSp>
            <p:nvGrpSpPr>
              <p:cNvPr id="277508" name="Group 4">
                <a:extLst>
                  <a:ext uri="{FF2B5EF4-FFF2-40B4-BE49-F238E27FC236}">
                    <a16:creationId xmlns:a16="http://schemas.microsoft.com/office/drawing/2014/main" id="{B449694B-E29F-C250-776B-F113033D5B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9" y="1269"/>
                <a:ext cx="4044" cy="2280"/>
                <a:chOff x="1104" y="1230"/>
                <a:chExt cx="4044" cy="2280"/>
              </a:xfrm>
            </p:grpSpPr>
            <p:sp>
              <p:nvSpPr>
                <p:cNvPr id="277509" name="Line 5">
                  <a:extLst>
                    <a:ext uri="{FF2B5EF4-FFF2-40B4-BE49-F238E27FC236}">
                      <a16:creationId xmlns:a16="http://schemas.microsoft.com/office/drawing/2014/main" id="{FEE32165-9531-283E-2877-3E42074B2B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10" y="1230"/>
                  <a:ext cx="0" cy="2280"/>
                </a:xfrm>
                <a:prstGeom prst="line">
                  <a:avLst/>
                </a:prstGeom>
                <a:noFill/>
                <a:ln w="38100">
                  <a:solidFill>
                    <a:srgbClr val="CC2700"/>
                  </a:solidFill>
                  <a:round/>
                  <a:headEnd/>
                  <a:tailEnd type="stealth" w="lg" len="med"/>
                </a:ln>
                <a:effectLst>
                  <a:outerShdw dist="45791" dir="2021404" algn="ctr" rotWithShape="0">
                    <a:schemeClr val="bg2">
                      <a:alpha val="50000"/>
                    </a:scheme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7510" name="Line 6">
                  <a:extLst>
                    <a:ext uri="{FF2B5EF4-FFF2-40B4-BE49-F238E27FC236}">
                      <a16:creationId xmlns:a16="http://schemas.microsoft.com/office/drawing/2014/main" id="{D1BFE07E-D274-8397-E6B2-F11CDB9224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04" y="3504"/>
                  <a:ext cx="4044" cy="0"/>
                </a:xfrm>
                <a:prstGeom prst="line">
                  <a:avLst/>
                </a:prstGeom>
                <a:noFill/>
                <a:ln w="38100">
                  <a:solidFill>
                    <a:srgbClr val="CC2700"/>
                  </a:solidFill>
                  <a:round/>
                  <a:headEnd/>
                  <a:tailEnd type="stealth" w="lg" len="med"/>
                </a:ln>
                <a:effectLst>
                  <a:outerShdw dist="45791" dir="3378596" algn="ctr" rotWithShape="0">
                    <a:schemeClr val="bg2">
                      <a:alpha val="50000"/>
                    </a:scheme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77511" name="Line 7">
                <a:extLst>
                  <a:ext uri="{FF2B5EF4-FFF2-40B4-BE49-F238E27FC236}">
                    <a16:creationId xmlns:a16="http://schemas.microsoft.com/office/drawing/2014/main" id="{BACF62F7-9B48-C48E-57D0-A69896FA91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10" y="3448"/>
                <a:ext cx="141" cy="22"/>
              </a:xfrm>
              <a:prstGeom prst="line">
                <a:avLst/>
              </a:prstGeom>
              <a:noFill/>
              <a:ln w="76200">
                <a:solidFill>
                  <a:schemeClr val="bg1"/>
                </a:solidFill>
                <a:round/>
                <a:headEnd/>
                <a:tailEnd type="none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grpSp>
            <p:nvGrpSpPr>
              <p:cNvPr id="277512" name="Group 8">
                <a:extLst>
                  <a:ext uri="{FF2B5EF4-FFF2-40B4-BE49-F238E27FC236}">
                    <a16:creationId xmlns:a16="http://schemas.microsoft.com/office/drawing/2014/main" id="{06C7BFDC-0A55-4104-7FA4-98CC8B217E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2" y="1168"/>
                <a:ext cx="3430" cy="2353"/>
                <a:chOff x="952" y="1168"/>
                <a:chExt cx="3430" cy="2353"/>
              </a:xfrm>
            </p:grpSpPr>
            <p:sp>
              <p:nvSpPr>
                <p:cNvPr id="277513" name="Freeform 9">
                  <a:extLst>
                    <a:ext uri="{FF2B5EF4-FFF2-40B4-BE49-F238E27FC236}">
                      <a16:creationId xmlns:a16="http://schemas.microsoft.com/office/drawing/2014/main" id="{65D1B170-D10B-F58D-2953-E089F58AE1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952" y="1168"/>
                  <a:ext cx="2637" cy="2353"/>
                </a:xfrm>
                <a:custGeom>
                  <a:avLst/>
                  <a:gdLst>
                    <a:gd name="T0" fmla="*/ 0 w 1304"/>
                    <a:gd name="T1" fmla="*/ 808 h 808"/>
                    <a:gd name="T2" fmla="*/ 284 w 1304"/>
                    <a:gd name="T3" fmla="*/ 694 h 808"/>
                    <a:gd name="T4" fmla="*/ 425 w 1304"/>
                    <a:gd name="T5" fmla="*/ 184 h 808"/>
                    <a:gd name="T6" fmla="*/ 709 w 1304"/>
                    <a:gd name="T7" fmla="*/ 71 h 808"/>
                    <a:gd name="T8" fmla="*/ 964 w 1304"/>
                    <a:gd name="T9" fmla="*/ 609 h 808"/>
                    <a:gd name="T10" fmla="*/ 1304 w 1304"/>
                    <a:gd name="T11" fmla="*/ 808 h 8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04" h="808">
                      <a:moveTo>
                        <a:pt x="0" y="808"/>
                      </a:moveTo>
                      <a:cubicBezTo>
                        <a:pt x="106" y="803"/>
                        <a:pt x="213" y="798"/>
                        <a:pt x="284" y="694"/>
                      </a:cubicBezTo>
                      <a:cubicBezTo>
                        <a:pt x="355" y="590"/>
                        <a:pt x="354" y="288"/>
                        <a:pt x="425" y="184"/>
                      </a:cubicBezTo>
                      <a:cubicBezTo>
                        <a:pt x="496" y="80"/>
                        <a:pt x="619" y="0"/>
                        <a:pt x="709" y="71"/>
                      </a:cubicBezTo>
                      <a:cubicBezTo>
                        <a:pt x="799" y="142"/>
                        <a:pt x="865" y="486"/>
                        <a:pt x="964" y="609"/>
                      </a:cubicBezTo>
                      <a:cubicBezTo>
                        <a:pt x="1063" y="732"/>
                        <a:pt x="1183" y="770"/>
                        <a:pt x="1304" y="808"/>
                      </a:cubicBezTo>
                    </a:path>
                  </a:pathLst>
                </a:custGeom>
                <a:noFill/>
                <a:ln w="34925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77514" name="Freeform 10">
                  <a:extLst>
                    <a:ext uri="{FF2B5EF4-FFF2-40B4-BE49-F238E27FC236}">
                      <a16:creationId xmlns:a16="http://schemas.microsoft.com/office/drawing/2014/main" id="{EE87E18B-7271-B8DC-2898-6B0D0F67BD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59" y="1168"/>
                  <a:ext cx="2523" cy="2353"/>
                </a:xfrm>
                <a:custGeom>
                  <a:avLst/>
                  <a:gdLst>
                    <a:gd name="T0" fmla="*/ 0 w 1304"/>
                    <a:gd name="T1" fmla="*/ 808 h 808"/>
                    <a:gd name="T2" fmla="*/ 284 w 1304"/>
                    <a:gd name="T3" fmla="*/ 694 h 808"/>
                    <a:gd name="T4" fmla="*/ 425 w 1304"/>
                    <a:gd name="T5" fmla="*/ 184 h 808"/>
                    <a:gd name="T6" fmla="*/ 709 w 1304"/>
                    <a:gd name="T7" fmla="*/ 71 h 808"/>
                    <a:gd name="T8" fmla="*/ 964 w 1304"/>
                    <a:gd name="T9" fmla="*/ 609 h 808"/>
                    <a:gd name="T10" fmla="*/ 1304 w 1304"/>
                    <a:gd name="T11" fmla="*/ 808 h 80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304" h="808">
                      <a:moveTo>
                        <a:pt x="0" y="808"/>
                      </a:moveTo>
                      <a:cubicBezTo>
                        <a:pt x="106" y="803"/>
                        <a:pt x="213" y="798"/>
                        <a:pt x="284" y="694"/>
                      </a:cubicBezTo>
                      <a:cubicBezTo>
                        <a:pt x="355" y="590"/>
                        <a:pt x="354" y="288"/>
                        <a:pt x="425" y="184"/>
                      </a:cubicBezTo>
                      <a:cubicBezTo>
                        <a:pt x="496" y="80"/>
                        <a:pt x="619" y="0"/>
                        <a:pt x="709" y="71"/>
                      </a:cubicBezTo>
                      <a:cubicBezTo>
                        <a:pt x="799" y="142"/>
                        <a:pt x="865" y="486"/>
                        <a:pt x="964" y="609"/>
                      </a:cubicBezTo>
                      <a:cubicBezTo>
                        <a:pt x="1063" y="732"/>
                        <a:pt x="1183" y="770"/>
                        <a:pt x="1304" y="808"/>
                      </a:cubicBezTo>
                    </a:path>
                  </a:pathLst>
                </a:custGeom>
                <a:noFill/>
                <a:ln w="34925" cap="flat" cmpd="sng">
                  <a:solidFill>
                    <a:schemeClr val="bg2"/>
                  </a:solidFill>
                  <a:prstDash val="solid"/>
                  <a:round/>
                  <a:headEnd type="none" w="med" len="med"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277515" name="Freeform 11">
                <a:extLst>
                  <a:ext uri="{FF2B5EF4-FFF2-40B4-BE49-F238E27FC236}">
                    <a16:creationId xmlns:a16="http://schemas.microsoft.com/office/drawing/2014/main" id="{E165D506-1A51-4FE4-2990-CAD8857F2C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6" y="2031"/>
                <a:ext cx="1692" cy="1500"/>
              </a:xfrm>
              <a:custGeom>
                <a:avLst/>
                <a:gdLst>
                  <a:gd name="T0" fmla="*/ 0 w 1692"/>
                  <a:gd name="T1" fmla="*/ 1497 h 1500"/>
                  <a:gd name="T2" fmla="*/ 117 w 1692"/>
                  <a:gd name="T3" fmla="*/ 1491 h 1500"/>
                  <a:gd name="T4" fmla="*/ 180 w 1692"/>
                  <a:gd name="T5" fmla="*/ 1473 h 1500"/>
                  <a:gd name="T6" fmla="*/ 309 w 1692"/>
                  <a:gd name="T7" fmla="*/ 1425 h 1500"/>
                  <a:gd name="T8" fmla="*/ 396 w 1692"/>
                  <a:gd name="T9" fmla="*/ 1362 h 1500"/>
                  <a:gd name="T10" fmla="*/ 492 w 1692"/>
                  <a:gd name="T11" fmla="*/ 1227 h 1500"/>
                  <a:gd name="T12" fmla="*/ 528 w 1692"/>
                  <a:gd name="T13" fmla="*/ 1155 h 1500"/>
                  <a:gd name="T14" fmla="*/ 585 w 1692"/>
                  <a:gd name="T15" fmla="*/ 960 h 1500"/>
                  <a:gd name="T16" fmla="*/ 642 w 1692"/>
                  <a:gd name="T17" fmla="*/ 561 h 1500"/>
                  <a:gd name="T18" fmla="*/ 693 w 1692"/>
                  <a:gd name="T19" fmla="*/ 123 h 1500"/>
                  <a:gd name="T20" fmla="*/ 717 w 1692"/>
                  <a:gd name="T21" fmla="*/ 0 h 1500"/>
                  <a:gd name="T22" fmla="*/ 816 w 1692"/>
                  <a:gd name="T23" fmla="*/ 423 h 1500"/>
                  <a:gd name="T24" fmla="*/ 834 w 1692"/>
                  <a:gd name="T25" fmla="*/ 477 h 1500"/>
                  <a:gd name="T26" fmla="*/ 927 w 1692"/>
                  <a:gd name="T27" fmla="*/ 774 h 1500"/>
                  <a:gd name="T28" fmla="*/ 1053 w 1692"/>
                  <a:gd name="T29" fmla="*/ 1065 h 1500"/>
                  <a:gd name="T30" fmla="*/ 1235 w 1692"/>
                  <a:gd name="T31" fmla="*/ 1233 h 1500"/>
                  <a:gd name="T32" fmla="*/ 1414 w 1692"/>
                  <a:gd name="T33" fmla="*/ 1368 h 1500"/>
                  <a:gd name="T34" fmla="*/ 1587 w 1692"/>
                  <a:gd name="T35" fmla="*/ 1456 h 1500"/>
                  <a:gd name="T36" fmla="*/ 1692 w 1692"/>
                  <a:gd name="T37" fmla="*/ 1500 h 1500"/>
                  <a:gd name="T38" fmla="*/ 62 w 1692"/>
                  <a:gd name="T39" fmla="*/ 1497 h 1500"/>
                  <a:gd name="T40" fmla="*/ 105 w 1692"/>
                  <a:gd name="T41" fmla="*/ 1491 h 1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692" h="1500">
                    <a:moveTo>
                      <a:pt x="0" y="1497"/>
                    </a:moveTo>
                    <a:lnTo>
                      <a:pt x="117" y="1491"/>
                    </a:lnTo>
                    <a:lnTo>
                      <a:pt x="180" y="1473"/>
                    </a:lnTo>
                    <a:lnTo>
                      <a:pt x="309" y="1425"/>
                    </a:lnTo>
                    <a:lnTo>
                      <a:pt x="396" y="1362"/>
                    </a:lnTo>
                    <a:lnTo>
                      <a:pt x="492" y="1227"/>
                    </a:lnTo>
                    <a:lnTo>
                      <a:pt x="528" y="1155"/>
                    </a:lnTo>
                    <a:lnTo>
                      <a:pt x="585" y="960"/>
                    </a:lnTo>
                    <a:lnTo>
                      <a:pt x="642" y="561"/>
                    </a:lnTo>
                    <a:lnTo>
                      <a:pt x="693" y="123"/>
                    </a:lnTo>
                    <a:lnTo>
                      <a:pt x="717" y="0"/>
                    </a:lnTo>
                    <a:lnTo>
                      <a:pt x="816" y="423"/>
                    </a:lnTo>
                    <a:lnTo>
                      <a:pt x="834" y="477"/>
                    </a:lnTo>
                    <a:lnTo>
                      <a:pt x="927" y="774"/>
                    </a:lnTo>
                    <a:lnTo>
                      <a:pt x="1053" y="1065"/>
                    </a:lnTo>
                    <a:lnTo>
                      <a:pt x="1235" y="1233"/>
                    </a:lnTo>
                    <a:lnTo>
                      <a:pt x="1414" y="1368"/>
                    </a:lnTo>
                    <a:lnTo>
                      <a:pt x="1587" y="1456"/>
                    </a:lnTo>
                    <a:lnTo>
                      <a:pt x="1692" y="1500"/>
                    </a:lnTo>
                    <a:lnTo>
                      <a:pt x="62" y="1497"/>
                    </a:lnTo>
                    <a:lnTo>
                      <a:pt x="105" y="1491"/>
                    </a:lnTo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4925" cap="flat" cmpd="sng">
                    <a:solidFill>
                      <a:schemeClr val="bg2"/>
                    </a:solidFill>
                    <a:prstDash val="solid"/>
                    <a:round/>
                    <a:headEnd type="none" w="med" len="med"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77516" name="Freeform 12">
                <a:extLst>
                  <a:ext uri="{FF2B5EF4-FFF2-40B4-BE49-F238E27FC236}">
                    <a16:creationId xmlns:a16="http://schemas.microsoft.com/office/drawing/2014/main" id="{13226BE7-4D0E-BEE3-7269-BEC8FEFF47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68" y="2904"/>
                <a:ext cx="279" cy="372"/>
              </a:xfrm>
              <a:custGeom>
                <a:avLst/>
                <a:gdLst>
                  <a:gd name="T0" fmla="*/ 0 w 279"/>
                  <a:gd name="T1" fmla="*/ 0 h 372"/>
                  <a:gd name="T2" fmla="*/ 60 w 279"/>
                  <a:gd name="T3" fmla="*/ 111 h 372"/>
                  <a:gd name="T4" fmla="*/ 96 w 279"/>
                  <a:gd name="T5" fmla="*/ 162 h 372"/>
                  <a:gd name="T6" fmla="*/ 138 w 279"/>
                  <a:gd name="T7" fmla="*/ 219 h 372"/>
                  <a:gd name="T8" fmla="*/ 180 w 279"/>
                  <a:gd name="T9" fmla="*/ 273 h 372"/>
                  <a:gd name="T10" fmla="*/ 234 w 279"/>
                  <a:gd name="T11" fmla="*/ 330 h 372"/>
                  <a:gd name="T12" fmla="*/ 279 w 279"/>
                  <a:gd name="T13" fmla="*/ 372 h 372"/>
                  <a:gd name="T14" fmla="*/ 60 w 279"/>
                  <a:gd name="T15" fmla="*/ 192 h 372"/>
                  <a:gd name="T16" fmla="*/ 0 w 279"/>
                  <a:gd name="T17" fmla="*/ 0 h 3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9" h="372">
                    <a:moveTo>
                      <a:pt x="0" y="0"/>
                    </a:moveTo>
                    <a:lnTo>
                      <a:pt x="60" y="111"/>
                    </a:lnTo>
                    <a:lnTo>
                      <a:pt x="96" y="162"/>
                    </a:lnTo>
                    <a:lnTo>
                      <a:pt x="138" y="219"/>
                    </a:lnTo>
                    <a:lnTo>
                      <a:pt x="180" y="273"/>
                    </a:lnTo>
                    <a:lnTo>
                      <a:pt x="234" y="330"/>
                    </a:lnTo>
                    <a:lnTo>
                      <a:pt x="279" y="372"/>
                    </a:lnTo>
                    <a:lnTo>
                      <a:pt x="60" y="1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76200" cap="flat" cmpd="sng">
                    <a:solidFill>
                      <a:srgbClr val="CC2700"/>
                    </a:solidFill>
                    <a:prstDash val="solid"/>
                    <a:round/>
                    <a:headEnd type="none" w="med" len="med"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77517" name="Line 13">
              <a:extLst>
                <a:ext uri="{FF2B5EF4-FFF2-40B4-BE49-F238E27FC236}">
                  <a16:creationId xmlns:a16="http://schemas.microsoft.com/office/drawing/2014/main" id="{F08D5B14-C23D-AE5F-31FB-DD999F7C3A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96" y="1692"/>
              <a:ext cx="1608" cy="1344"/>
            </a:xfrm>
            <a:prstGeom prst="line">
              <a:avLst/>
            </a:prstGeom>
            <a:noFill/>
            <a:ln w="28575">
              <a:solidFill>
                <a:srgbClr val="CC2700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18" name="Text Box 14">
              <a:extLst>
                <a:ext uri="{FF2B5EF4-FFF2-40B4-BE49-F238E27FC236}">
                  <a16:creationId xmlns:a16="http://schemas.microsoft.com/office/drawing/2014/main" id="{BDE9C83A-994C-E4A9-0B3C-A13CD09D4B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" y="1392"/>
              <a:ext cx="1488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Overlap in observed or expected behavior</a:t>
              </a:r>
              <a:endParaRPr lang="en-GB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519" name="Line 15">
              <a:extLst>
                <a:ext uri="{FF2B5EF4-FFF2-40B4-BE49-F238E27FC236}">
                  <a16:creationId xmlns:a16="http://schemas.microsoft.com/office/drawing/2014/main" id="{925E1CB0-17D1-1FC1-7AFC-937FDD0A3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4" y="1092"/>
              <a:ext cx="168" cy="300"/>
            </a:xfrm>
            <a:prstGeom prst="line">
              <a:avLst/>
            </a:prstGeom>
            <a:noFill/>
            <a:ln w="28575">
              <a:solidFill>
                <a:srgbClr val="CC2700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20" name="Text Box 16">
              <a:extLst>
                <a:ext uri="{FF2B5EF4-FFF2-40B4-BE49-F238E27FC236}">
                  <a16:creationId xmlns:a16="http://schemas.microsoft.com/office/drawing/2014/main" id="{FD40C58E-3605-383C-C47C-4398610BBA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6" y="828"/>
              <a:ext cx="1272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Profile of authorized user behavior</a:t>
              </a:r>
              <a:endParaRPr lang="en-GB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521" name="Line 17">
              <a:extLst>
                <a:ext uri="{FF2B5EF4-FFF2-40B4-BE49-F238E27FC236}">
                  <a16:creationId xmlns:a16="http://schemas.microsoft.com/office/drawing/2014/main" id="{7D11EC86-2AE6-6D00-68DC-ABF23A162A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53" y="1265"/>
              <a:ext cx="168" cy="300"/>
            </a:xfrm>
            <a:prstGeom prst="line">
              <a:avLst/>
            </a:prstGeom>
            <a:noFill/>
            <a:ln w="28575">
              <a:solidFill>
                <a:srgbClr val="CC2700"/>
              </a:solidFill>
              <a:round/>
              <a:headEnd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77522" name="Text Box 18">
              <a:extLst>
                <a:ext uri="{FF2B5EF4-FFF2-40B4-BE49-F238E27FC236}">
                  <a16:creationId xmlns:a16="http://schemas.microsoft.com/office/drawing/2014/main" id="{66CA31D1-3591-C54B-C74F-731A342D86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0" y="977"/>
              <a:ext cx="1139" cy="3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Profile of Intruder behavior</a:t>
              </a:r>
              <a:endParaRPr lang="en-GB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523" name="Text Box 19">
              <a:extLst>
                <a:ext uri="{FF2B5EF4-FFF2-40B4-BE49-F238E27FC236}">
                  <a16:creationId xmlns:a16="http://schemas.microsoft.com/office/drawing/2014/main" id="{302461BE-45E7-99E9-2D15-A6471E30F5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" y="1044"/>
              <a:ext cx="1020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latin typeface="Arial" panose="020B0604020202020204" pitchFamily="34" charset="0"/>
                  <a:cs typeface="Arial" panose="020B0604020202020204" pitchFamily="34" charset="0"/>
                </a:rPr>
                <a:t>Probability density function</a:t>
              </a:r>
              <a:endParaRPr lang="en-GB" altLang="en-US" sz="1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77524" name="Line 20">
            <a:extLst>
              <a:ext uri="{FF2B5EF4-FFF2-40B4-BE49-F238E27FC236}">
                <a16:creationId xmlns:a16="http://schemas.microsoft.com/office/drawing/2014/main" id="{C814A5C2-DB3A-E764-479F-4A8F618FF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3300" y="5464175"/>
            <a:ext cx="0" cy="298450"/>
          </a:xfrm>
          <a:prstGeom prst="line">
            <a:avLst/>
          </a:prstGeom>
          <a:noFill/>
          <a:ln w="28575">
            <a:solidFill>
              <a:srgbClr val="CC27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525" name="Text Box 21">
            <a:extLst>
              <a:ext uri="{FF2B5EF4-FFF2-40B4-BE49-F238E27FC236}">
                <a16:creationId xmlns:a16="http://schemas.microsoft.com/office/drawing/2014/main" id="{82C7BCD6-93FE-89B4-4D0F-ABE68B0D68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7200" y="5737225"/>
            <a:ext cx="1479550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CC27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Average behaviour of intruder</a:t>
            </a:r>
            <a:endParaRPr lang="en-GB" alt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526" name="Line 22">
            <a:extLst>
              <a:ext uri="{FF2B5EF4-FFF2-40B4-BE49-F238E27FC236}">
                <a16:creationId xmlns:a16="http://schemas.microsoft.com/office/drawing/2014/main" id="{5D00F0F6-A226-4639-9EA8-1EF43D5F2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7225" y="5453063"/>
            <a:ext cx="0" cy="300037"/>
          </a:xfrm>
          <a:prstGeom prst="line">
            <a:avLst/>
          </a:prstGeom>
          <a:noFill/>
          <a:ln w="28575">
            <a:solidFill>
              <a:srgbClr val="CC2700"/>
            </a:solidFill>
            <a:round/>
            <a:headEnd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77527" name="Text Box 23">
            <a:extLst>
              <a:ext uri="{FF2B5EF4-FFF2-40B4-BE49-F238E27FC236}">
                <a16:creationId xmlns:a16="http://schemas.microsoft.com/office/drawing/2014/main" id="{22A473E5-946E-03C3-FB7D-1957FCB6D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6675" y="5726113"/>
            <a:ext cx="1482725" cy="58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CC27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lnSpc>
                <a:spcPct val="90000"/>
              </a:lnSpc>
              <a:spcBef>
                <a:spcPct val="50000"/>
              </a:spcBef>
            </a:pPr>
            <a:r>
              <a:rPr lang="en-US" altLang="en-US" sz="1200" b="1">
                <a:latin typeface="Arial" panose="020B0604020202020204" pitchFamily="34" charset="0"/>
                <a:cs typeface="Arial" panose="020B0604020202020204" pitchFamily="34" charset="0"/>
              </a:rPr>
              <a:t>Average behaviour of authorized user</a:t>
            </a:r>
            <a:endParaRPr lang="en-GB" altLang="en-US" sz="12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7528" name="Text Box 24">
            <a:extLst>
              <a:ext uri="{FF2B5EF4-FFF2-40B4-BE49-F238E27FC236}">
                <a16:creationId xmlns:a16="http://schemas.microsoft.com/office/drawing/2014/main" id="{45CCB6DD-2D80-138A-A10D-9F38986F9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9138" y="5427663"/>
            <a:ext cx="1922462" cy="668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76200" algn="ctr">
                <a:solidFill>
                  <a:srgbClr val="CC2700"/>
                </a:solidFill>
                <a:miter lim="800000"/>
                <a:headEnd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14350"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</a:pPr>
            <a:r>
              <a:rPr lang="en-US" altLang="en-US" sz="1400" b="1">
                <a:latin typeface="Arial" panose="020B0604020202020204" pitchFamily="34" charset="0"/>
                <a:cs typeface="Arial" panose="020B0604020202020204" pitchFamily="34" charset="0"/>
              </a:rPr>
              <a:t>Measurable behaviour parameter</a:t>
            </a:r>
            <a:endParaRPr lang="en-GB" altLang="en-US" sz="1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>
            <a:extLst>
              <a:ext uri="{FF2B5EF4-FFF2-40B4-BE49-F238E27FC236}">
                <a16:creationId xmlns:a16="http://schemas.microsoft.com/office/drawing/2014/main" id="{545ABC9C-9CA2-07AD-2E41-DE386C0E1E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False alarms?</a:t>
            </a:r>
          </a:p>
        </p:txBody>
      </p:sp>
      <p:sp>
        <p:nvSpPr>
          <p:cNvPr id="278531" name="Rectangle 3">
            <a:extLst>
              <a:ext uri="{FF2B5EF4-FFF2-40B4-BE49-F238E27FC236}">
                <a16:creationId xmlns:a16="http://schemas.microsoft.com/office/drawing/2014/main" id="{78F1DADC-44BE-0618-3DB2-51C49175A9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Say we have an IDS that is 99% accurate</a:t>
            </a:r>
          </a:p>
          <a:p>
            <a:pPr lvl="1"/>
            <a:r>
              <a:rPr lang="en-US" altLang="en-US"/>
              <a:t>I.e., Pr[alarm | attack] = 0.99 and </a:t>
            </a:r>
            <a:br>
              <a:rPr lang="en-US" altLang="en-US"/>
            </a:br>
            <a:r>
              <a:rPr lang="en-US" altLang="en-US"/>
              <a:t>Pr[no alarm | no attack] = 0.99</a:t>
            </a:r>
          </a:p>
          <a:p>
            <a:r>
              <a:rPr lang="en-US" altLang="en-US"/>
              <a:t>An alarm goes off -- what is the probability that an attack is taking place?</a:t>
            </a:r>
          </a:p>
          <a:p>
            <a:r>
              <a:rPr lang="en-US" altLang="en-US"/>
              <a:t>To increase this probability, what should we focus on improving??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8531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E18BCDAA-0501-9BE9-08E5-39412A1A85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False alarms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39C72D9A-586A-4580-2849-8B70420E4C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Say the probability of an attack is 1/1000</a:t>
            </a:r>
          </a:p>
          <a:p>
            <a:r>
              <a:rPr lang="en-US" altLang="en-US"/>
              <a:t>Use Bayes’ law:</a:t>
            </a:r>
            <a:br>
              <a:rPr lang="en-US" altLang="en-US"/>
            </a:br>
            <a:r>
              <a:rPr lang="en-US" altLang="en-US"/>
              <a:t>Pr[attack | alarm] </a:t>
            </a:r>
            <a:br>
              <a:rPr lang="en-US" altLang="en-US"/>
            </a:br>
            <a:r>
              <a:rPr lang="en-US" altLang="en-US"/>
              <a:t>        =  Pr[alarm | attack] Pr[attack] / Pr[alarm]</a:t>
            </a:r>
            <a:br>
              <a:rPr lang="en-US" altLang="en-US"/>
            </a:br>
            <a:r>
              <a:rPr lang="en-US" altLang="en-US"/>
              <a:t>        = 0.99 * 0.001 / (0.99 * 0.001 + 0.01 * 0.999)</a:t>
            </a:r>
            <a:br>
              <a:rPr lang="en-US" altLang="en-US"/>
            </a:br>
            <a:r>
              <a:rPr lang="en-US" altLang="en-US"/>
              <a:t>        </a:t>
            </a:r>
            <a:r>
              <a:rPr lang="en-US" altLang="en-US">
                <a:cs typeface="Times New Roman" panose="02020603050405020304" pitchFamily="18" charset="0"/>
              </a:rPr>
              <a:t>≈ 0.1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I.e., when an alarm goes off, 90% of the time it will be a false alarm!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How best to lower this number?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955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7AE0D5C8-6CC9-502C-3E61-9040238745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Host-based IDS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99DB3530-4F6C-F148-7AE8-C8C086679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Monitors events on a single host</a:t>
            </a:r>
          </a:p>
          <a:p>
            <a:r>
              <a:rPr lang="en-US" altLang="en-US"/>
              <a:t>Can detect both internal and external intrusions</a:t>
            </a:r>
          </a:p>
          <a:p>
            <a:r>
              <a:rPr lang="en-US" altLang="en-US"/>
              <a:t>Two general approaches</a:t>
            </a:r>
          </a:p>
          <a:p>
            <a:pPr lvl="1"/>
            <a:r>
              <a:rPr lang="en-US" altLang="en-US"/>
              <a:t>Anomaly detection</a:t>
            </a:r>
          </a:p>
          <a:p>
            <a:pPr lvl="1"/>
            <a:r>
              <a:rPr lang="en-US" altLang="en-US"/>
              <a:t>Signature (rule-based)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3008CC85-5945-59A8-1EFC-741E05E81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Anomaly detection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A6839661-DD9D-36D4-56D5-405A74DA23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Monitor behavior and compare to some “baseline” behavior using statistical tests</a:t>
            </a:r>
          </a:p>
          <a:p>
            <a:pPr lvl="1"/>
            <a:r>
              <a:rPr lang="en-US" altLang="en-US"/>
              <a:t>Look for deviations from “normal behavior”</a:t>
            </a:r>
          </a:p>
          <a:p>
            <a:r>
              <a:rPr lang="en-US" altLang="en-US"/>
              <a:t>“Normal behavior” can be defined on a global level or a per-user level</a:t>
            </a:r>
          </a:p>
          <a:p>
            <a:r>
              <a:rPr lang="en-US" altLang="en-US"/>
              <a:t>“Normal behavior” can be specified by a human, or learned automatically over time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>
            <a:extLst>
              <a:ext uri="{FF2B5EF4-FFF2-40B4-BE49-F238E27FC236}">
                <a16:creationId xmlns:a16="http://schemas.microsoft.com/office/drawing/2014/main" id="{99D605CC-7775-5AD7-C373-754BDE76EE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Anomaly detection</a:t>
            </a:r>
          </a:p>
        </p:txBody>
      </p:sp>
      <p:sp>
        <p:nvSpPr>
          <p:cNvPr id="282627" name="Rectangle 3">
            <a:extLst>
              <a:ext uri="{FF2B5EF4-FFF2-40B4-BE49-F238E27FC236}">
                <a16:creationId xmlns:a16="http://schemas.microsoft.com/office/drawing/2014/main" id="{5AD05B77-D520-9FD6-9A36-563DD58CA5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Threshold detection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Looking at frequency of occurrence of various events, within a specific period of time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Even if attacker can thwart this, it will slow the attack</a:t>
            </a:r>
          </a:p>
          <a:p>
            <a:pPr>
              <a:lnSpc>
                <a:spcPct val="90000"/>
              </a:lnSpc>
            </a:pPr>
            <a:r>
              <a:rPr lang="en-US" altLang="en-US"/>
              <a:t>Profile-based (statistical anomaly detection)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Look at changes from a user-specific “baseline”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Baseline behavior can be derived from audit records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look at outliers from the mean, or more complicated (multivariate) data; in either case, need to define some appropriate metric for when unusual behavior is detected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3689" name="Group 41">
            <a:extLst>
              <a:ext uri="{FF2B5EF4-FFF2-40B4-BE49-F238E27FC236}">
                <a16:creationId xmlns:a16="http://schemas.microsoft.com/office/drawing/2014/main" id="{CDFD992C-0F45-D61B-619D-1ED2E97102F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19200" y="568325"/>
          <a:ext cx="7772400" cy="5435600"/>
        </p:xfrm>
        <a:graphic>
          <a:graphicData uri="http://schemas.openxmlformats.org/drawingml/2006/table">
            <a:tbl>
              <a:tblPr/>
              <a:tblGrid>
                <a:gridCol w="2590800">
                  <a:extLst>
                    <a:ext uri="{9D8B030D-6E8A-4147-A177-3AD203B41FA5}">
                      <a16:colId xmlns:a16="http://schemas.microsoft.com/office/drawing/2014/main" val="3147934800"/>
                    </a:ext>
                  </a:extLst>
                </a:gridCol>
                <a:gridCol w="2430463">
                  <a:extLst>
                    <a:ext uri="{9D8B030D-6E8A-4147-A177-3AD203B41FA5}">
                      <a16:colId xmlns:a16="http://schemas.microsoft.com/office/drawing/2014/main" val="541427643"/>
                    </a:ext>
                  </a:extLst>
                </a:gridCol>
                <a:gridCol w="2751137">
                  <a:extLst>
                    <a:ext uri="{9D8B030D-6E8A-4147-A177-3AD203B41FA5}">
                      <a16:colId xmlns:a16="http://schemas.microsoft.com/office/drawing/2014/main" val="2642152557"/>
                    </a:ext>
                  </a:extLst>
                </a:gridCol>
              </a:tblGrid>
              <a:tr h="531813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Metric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Model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Justification</a:t>
                      </a:r>
                      <a:endParaRPr kumimoji="0" lang="en-GB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758792"/>
                  </a:ext>
                </a:extLst>
              </a:tr>
              <a:tr h="695325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Login frequency by date and time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Mean and standard deviation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Intruders are more likely to login during off-hours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062912"/>
                  </a:ext>
                </a:extLst>
              </a:tr>
              <a:tr h="822325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Frequency of login at different locations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Mean and standard deviation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Intruders may login from a location that a legitimate user does not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310571"/>
                  </a:ext>
                </a:extLst>
              </a:tr>
              <a:tr h="563563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Time since last login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Markov (time series)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Break-in to unused account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394542"/>
                  </a:ext>
                </a:extLst>
              </a:tr>
              <a:tr h="714375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Length of session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Mean and standard deviation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Masquerader may run a much shorter or longer session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436517"/>
                  </a:ext>
                </a:extLst>
              </a:tr>
              <a:tr h="581025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Large amount of data copied to some location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Mean and standard deviation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Detect attempt to copy large amounts of sensitive data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512100"/>
                  </a:ext>
                </a:extLst>
              </a:tr>
              <a:tr h="581025"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Password failures at login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Unusual event/ operational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40000"/>
                        </a:spcBef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 algn="l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 algn="l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2" charset="2"/>
                        <a:buNone/>
                        <a:tabLst/>
                      </a:pPr>
                      <a:r>
                        <a:rPr kumimoji="0" lang="en-US" altLang="en-US" sz="19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</a:rPr>
                        <a:t>Detect attempt to guess passwords</a:t>
                      </a:r>
                      <a:endParaRPr kumimoji="0" lang="en-GB" altLang="en-US" sz="19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lg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63406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>
            <a:extLst>
              <a:ext uri="{FF2B5EF4-FFF2-40B4-BE49-F238E27FC236}">
                <a16:creationId xmlns:a16="http://schemas.microsoft.com/office/drawing/2014/main" id="{CDA674CB-724A-FB56-AE29-881A683E3A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Signature (rule-based) detection</a:t>
            </a:r>
          </a:p>
        </p:txBody>
      </p:sp>
      <p:sp>
        <p:nvSpPr>
          <p:cNvPr id="284675" name="Rectangle 3">
            <a:extLst>
              <a:ext uri="{FF2B5EF4-FFF2-40B4-BE49-F238E27FC236}">
                <a16:creationId xmlns:a16="http://schemas.microsoft.com/office/drawing/2014/main" id="{80FC57E4-6217-04FC-C72D-2B5C79C19A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Define a set of “bad patterns” (e.g., known exploits or known bad events)</a:t>
            </a:r>
          </a:p>
          <a:p>
            <a:r>
              <a:rPr lang="en-US" altLang="en-US"/>
              <a:t>Detect these patterns if they occur</a:t>
            </a:r>
          </a:p>
          <a:p>
            <a:endParaRPr lang="en-US" altLang="en-US"/>
          </a:p>
          <a:p>
            <a:r>
              <a:rPr lang="en-US" altLang="en-US"/>
              <a:t>Anomaly detection </a:t>
            </a:r>
            <a:r>
              <a:rPr lang="en-US" altLang="en-US">
                <a:cs typeface="Times New Roman" panose="02020603050405020304" pitchFamily="18" charset="0"/>
              </a:rPr>
              <a:t>≈ looks for atypical behavior</a:t>
            </a:r>
          </a:p>
          <a:p>
            <a:r>
              <a:rPr lang="en-US" altLang="en-US">
                <a:cs typeface="Times New Roman" panose="02020603050405020304" pitchFamily="18" charset="0"/>
              </a:rPr>
              <a:t>Signature detection ≈ looks for improper behavior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467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7761CDA2-9FA9-62D2-DA0C-487F547F9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rules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6F531353-E9C3-F5D5-2981-A1E0E3DE5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Users should not read files in other users’ personal directories</a:t>
            </a:r>
          </a:p>
          <a:p>
            <a:r>
              <a:rPr lang="en-US" altLang="en-US" sz="2400"/>
              <a:t>Users must not write to other users’ files</a:t>
            </a:r>
          </a:p>
          <a:p>
            <a:r>
              <a:rPr lang="en-US" altLang="en-US" sz="2400"/>
              <a:t>Users who log in after hours often use the same files they used earlier</a:t>
            </a:r>
          </a:p>
          <a:p>
            <a:r>
              <a:rPr lang="en-US" altLang="en-US" sz="2400"/>
              <a:t>Users do not generally open disk devices directly, but rely on higher-level OS utilities</a:t>
            </a:r>
          </a:p>
          <a:p>
            <a:r>
              <a:rPr lang="en-US" altLang="en-US" sz="2400"/>
              <a:t>Users should not be logged in more than once to the same system</a:t>
            </a:r>
          </a:p>
          <a:p>
            <a:r>
              <a:rPr lang="en-US" altLang="en-US" sz="2400"/>
              <a:t>Users do not make copies of system programs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2" name="Rectangle 2">
            <a:extLst>
              <a:ext uri="{FF2B5EF4-FFF2-40B4-BE49-F238E27FC236}">
                <a16:creationId xmlns:a16="http://schemas.microsoft.com/office/drawing/2014/main" id="{CF664857-458F-CB81-81D2-CE22904FB5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Distributed host-based IDS</a:t>
            </a:r>
          </a:p>
        </p:txBody>
      </p:sp>
      <p:sp>
        <p:nvSpPr>
          <p:cNvPr id="286723" name="Rectangle 3">
            <a:extLst>
              <a:ext uri="{FF2B5EF4-FFF2-40B4-BE49-F238E27FC236}">
                <a16:creationId xmlns:a16="http://schemas.microsoft.com/office/drawing/2014/main" id="{47C9A352-3B66-55A1-1767-E535D1B84D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Combine information collected at many different hosts in the network</a:t>
            </a:r>
          </a:p>
          <a:p>
            <a:pPr>
              <a:lnSpc>
                <a:spcPct val="90000"/>
              </a:lnSpc>
            </a:pPr>
            <a:r>
              <a:rPr lang="en-US" altLang="en-US"/>
              <a:t>One or more machines in the network will collect and analyze the network data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Audit records needs to be sent over the network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Confidentiality and integrity of the data must be preserved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Centralized architecture: single point of data collection/analysis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Decentralized architecture: More than one analysis center –  more robust, but must be coordinated</a:t>
            </a:r>
            <a:endParaRPr lang="en-US" altLang="en-US" sz="2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FAEB1CC4-AA18-B509-E1E8-0534F89EE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Network-based IDS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A34ED6B7-73C9-ECE8-DD14-B39D84BE22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Monitors traffic at selected points on the network</a:t>
            </a:r>
          </a:p>
          <a:p>
            <a:pPr lvl="1"/>
            <a:r>
              <a:rPr lang="en-US" altLang="en-US"/>
              <a:t>Real time; packet-by-packet</a:t>
            </a:r>
          </a:p>
          <a:p>
            <a:r>
              <a:rPr lang="en-US" altLang="en-US"/>
              <a:t>Host-based IDS – looks at user behavior, activity on host, local view</a:t>
            </a:r>
          </a:p>
          <a:p>
            <a:r>
              <a:rPr lang="en-US" altLang="en-US"/>
              <a:t>Network-based IDS – looks at network traffic, global view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22A779AE-E6FD-ACD9-E35F-6BBB801364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Sensor types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46D6AF62-4ED2-6618-45E1-765922CA3E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Inline sensor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Inserted in network path; all traffic passes through the sensor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Passive sensor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Monitors a copy of network traffic</a:t>
            </a:r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 lvl="1"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/>
              <a:t>Passive sensor more efficient; inline sensor can block attacks immediately</a:t>
            </a:r>
          </a:p>
        </p:txBody>
      </p:sp>
      <p:grpSp>
        <p:nvGrpSpPr>
          <p:cNvPr id="288772" name="Group 4">
            <a:extLst>
              <a:ext uri="{FF2B5EF4-FFF2-40B4-BE49-F238E27FC236}">
                <a16:creationId xmlns:a16="http://schemas.microsoft.com/office/drawing/2014/main" id="{8BCB8139-93FE-9639-F9F1-B0759D54A6C8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590800"/>
            <a:ext cx="2819400" cy="533400"/>
            <a:chOff x="1440" y="3840"/>
            <a:chExt cx="1776" cy="336"/>
          </a:xfrm>
        </p:grpSpPr>
        <p:sp>
          <p:nvSpPr>
            <p:cNvPr id="288773" name="Line 5">
              <a:extLst>
                <a:ext uri="{FF2B5EF4-FFF2-40B4-BE49-F238E27FC236}">
                  <a16:creationId xmlns:a16="http://schemas.microsoft.com/office/drawing/2014/main" id="{D7A74581-4565-C06B-FD9B-BA4B3B4AEE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4008"/>
              <a:ext cx="72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8774" name="AutoShape 6">
              <a:extLst>
                <a:ext uri="{FF2B5EF4-FFF2-40B4-BE49-F238E27FC236}">
                  <a16:creationId xmlns:a16="http://schemas.microsoft.com/office/drawing/2014/main" id="{D86D8AC7-654D-F929-B918-F61E1F45D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840"/>
              <a:ext cx="336" cy="336"/>
            </a:xfrm>
            <a:prstGeom prst="diamond">
              <a:avLst/>
            </a:prstGeom>
            <a:solidFill>
              <a:schemeClr val="accent1"/>
            </a:solidFill>
            <a:ln w="25400" cap="sq" algn="ctr">
              <a:solidFill>
                <a:schemeClr val="tx1"/>
              </a:solidFill>
              <a:miter lim="800000"/>
              <a:headEnd type="none" w="lg" len="med"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8775" name="Line 7">
              <a:extLst>
                <a:ext uri="{FF2B5EF4-FFF2-40B4-BE49-F238E27FC236}">
                  <a16:creationId xmlns:a16="http://schemas.microsoft.com/office/drawing/2014/main" id="{2D898EA7-09D4-02E0-81F5-549A50761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96" y="4008"/>
              <a:ext cx="720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  <p:grpSp>
        <p:nvGrpSpPr>
          <p:cNvPr id="288776" name="Group 8">
            <a:extLst>
              <a:ext uri="{FF2B5EF4-FFF2-40B4-BE49-F238E27FC236}">
                <a16:creationId xmlns:a16="http://schemas.microsoft.com/office/drawing/2014/main" id="{C127D2B9-447C-D806-48A9-6073EE3A2C72}"/>
              </a:ext>
            </a:extLst>
          </p:cNvPr>
          <p:cNvGrpSpPr>
            <a:grpSpLocks/>
          </p:cNvGrpSpPr>
          <p:nvPr/>
        </p:nvGrpSpPr>
        <p:grpSpPr bwMode="auto">
          <a:xfrm>
            <a:off x="6096000" y="3505200"/>
            <a:ext cx="2743200" cy="1028700"/>
            <a:chOff x="1968" y="3264"/>
            <a:chExt cx="1728" cy="648"/>
          </a:xfrm>
        </p:grpSpPr>
        <p:sp>
          <p:nvSpPr>
            <p:cNvPr id="288777" name="Line 9">
              <a:extLst>
                <a:ext uri="{FF2B5EF4-FFF2-40B4-BE49-F238E27FC236}">
                  <a16:creationId xmlns:a16="http://schemas.microsoft.com/office/drawing/2014/main" id="{E4B79927-39DB-6215-4A3E-47A665EDCB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3912"/>
              <a:ext cx="1728" cy="0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  <p:sp>
          <p:nvSpPr>
            <p:cNvPr id="288778" name="AutoShape 10">
              <a:extLst>
                <a:ext uri="{FF2B5EF4-FFF2-40B4-BE49-F238E27FC236}">
                  <a16:creationId xmlns:a16="http://schemas.microsoft.com/office/drawing/2014/main" id="{193794D4-91E6-4A06-27BE-8E183BA9BC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3264"/>
              <a:ext cx="336" cy="336"/>
            </a:xfrm>
            <a:prstGeom prst="diamond">
              <a:avLst/>
            </a:prstGeom>
            <a:solidFill>
              <a:schemeClr val="accent1"/>
            </a:solidFill>
            <a:ln w="25400" cap="sq" algn="ctr">
              <a:solidFill>
                <a:schemeClr val="tx1"/>
              </a:solidFill>
              <a:miter lim="800000"/>
              <a:headEnd type="none" w="lg" len="med"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288779" name="Line 11">
              <a:extLst>
                <a:ext uri="{FF2B5EF4-FFF2-40B4-BE49-F238E27FC236}">
                  <a16:creationId xmlns:a16="http://schemas.microsoft.com/office/drawing/2014/main" id="{BF71AAE7-3F4C-7AC6-0FB3-8F4D0B3FD4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3600"/>
              <a:ext cx="0" cy="288"/>
            </a:xfrm>
            <a:prstGeom prst="line">
              <a:avLst/>
            </a:prstGeom>
            <a:noFill/>
            <a:ln w="25400" cap="sq">
              <a:solidFill>
                <a:schemeClr val="tx1"/>
              </a:solidFill>
              <a:round/>
              <a:headEnd type="none" w="lg" len="med"/>
              <a:tailEnd type="triangle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GB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8771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1EC7A9B3-23EC-318A-234E-F5ED74646C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Sensor placement</a:t>
            </a:r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B12E1370-9F5B-ECC7-FAD1-F2F8B385A1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Inside firewall?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detect attacks that penetrate firewall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detect firewall misconfiguration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examine outgoing traffic more easily to detect insider attacks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configure based on network resources being accessed (e.g., configure differently for traffic directed to web server)</a:t>
            </a:r>
          </a:p>
          <a:p>
            <a:pPr>
              <a:lnSpc>
                <a:spcPct val="90000"/>
              </a:lnSpc>
            </a:pPr>
            <a:r>
              <a:rPr lang="en-US" altLang="en-US"/>
              <a:t>Outside firewall?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document attacks (types/locations/number) even if prevented by firewall (can then be handled out-of-band)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42" name="Rectangle 2">
            <a:extLst>
              <a:ext uri="{FF2B5EF4-FFF2-40B4-BE49-F238E27FC236}">
                <a16:creationId xmlns:a16="http://schemas.microsoft.com/office/drawing/2014/main" id="{7D81F04D-DB2F-191C-2F4C-A0AA53F525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Honeypots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1ECD1CD5-9938-3CB2-E973-D1B2EDECF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Decoy systems to lure potential attackers</a:t>
            </a:r>
          </a:p>
          <a:p>
            <a:pPr lvl="1"/>
            <a:r>
              <a:rPr lang="en-US" altLang="en-US"/>
              <a:t>Divert attackers from critical systems</a:t>
            </a:r>
          </a:p>
          <a:p>
            <a:pPr lvl="1"/>
            <a:r>
              <a:rPr lang="en-US" altLang="en-US"/>
              <a:t>Collect information about attacker’s activity</a:t>
            </a:r>
          </a:p>
          <a:p>
            <a:pPr lvl="1"/>
            <a:r>
              <a:rPr lang="en-US" altLang="en-US"/>
              <a:t>Delay attacker long enough to respond</a:t>
            </a:r>
          </a:p>
          <a:p>
            <a:r>
              <a:rPr lang="en-US" altLang="en-US"/>
              <a:t>Since honeypot is not legitimate, any access to the honeypot is suspicious</a:t>
            </a:r>
          </a:p>
          <a:p>
            <a:r>
              <a:rPr lang="en-US" altLang="en-US"/>
              <a:t>Can have honeypot computers, or even honeypot networks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6" name="Rectangle 2">
            <a:extLst>
              <a:ext uri="{FF2B5EF4-FFF2-40B4-BE49-F238E27FC236}">
                <a16:creationId xmlns:a16="http://schemas.microsoft.com/office/drawing/2014/main" id="{2997546A-60A0-6477-693F-77ECA1AD5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Honeypot placement</a:t>
            </a:r>
          </a:p>
        </p:txBody>
      </p:sp>
      <p:sp>
        <p:nvSpPr>
          <p:cNvPr id="292867" name="Rectangle 3">
            <a:extLst>
              <a:ext uri="{FF2B5EF4-FFF2-40B4-BE49-F238E27FC236}">
                <a16:creationId xmlns:a16="http://schemas.microsoft.com/office/drawing/2014/main" id="{C15EE945-D484-0E74-6630-4F24CA4280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Outside firewall</a:t>
            </a:r>
          </a:p>
          <a:p>
            <a:pPr lvl="1"/>
            <a:r>
              <a:rPr lang="en-US" altLang="en-US"/>
              <a:t>Can detect attempted connections to unused IP addresses, port scanning</a:t>
            </a:r>
          </a:p>
          <a:p>
            <a:pPr lvl="1"/>
            <a:r>
              <a:rPr lang="en-US" altLang="en-US"/>
              <a:t>No risk of compromised system behind firewall</a:t>
            </a:r>
          </a:p>
          <a:p>
            <a:pPr lvl="1"/>
            <a:r>
              <a:rPr lang="en-US" altLang="en-US"/>
              <a:t>Does not divert internal attackers</a:t>
            </a:r>
          </a:p>
          <a:p>
            <a:r>
              <a:rPr lang="en-US" altLang="en-US"/>
              <a:t>Fully internal honeypot</a:t>
            </a:r>
          </a:p>
          <a:p>
            <a:pPr lvl="1"/>
            <a:r>
              <a:rPr lang="en-US" altLang="en-US"/>
              <a:t>Catches internal attacks</a:t>
            </a:r>
          </a:p>
          <a:p>
            <a:pPr lvl="1"/>
            <a:r>
              <a:rPr lang="en-US" altLang="en-US"/>
              <a:t>Can detect firewall misconfigurations/vulnerabilities</a:t>
            </a:r>
          </a:p>
          <a:p>
            <a:pPr lvl="1"/>
            <a:r>
              <a:rPr lang="en-US" altLang="en-US"/>
              <a:t>If compromised, run the risk of a compromised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890" name="Text Box 2">
            <a:extLst>
              <a:ext uri="{FF2B5EF4-FFF2-40B4-BE49-F238E27FC236}">
                <a16:creationId xmlns:a16="http://schemas.microsoft.com/office/drawing/2014/main" id="{3F219E3B-BA25-0ECA-7FBC-21FB0AA46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5900" y="2743200"/>
            <a:ext cx="2263775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4400">
                <a:solidFill>
                  <a:schemeClr val="tx2"/>
                </a:solidFill>
              </a:rPr>
              <a:t>Firewalls</a:t>
            </a:r>
            <a:endParaRPr lang="en-US" altLang="en-US" sz="360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>
            <a:extLst>
              <a:ext uri="{FF2B5EF4-FFF2-40B4-BE49-F238E27FC236}">
                <a16:creationId xmlns:a16="http://schemas.microsoft.com/office/drawing/2014/main" id="{1901A65E-4661-FF3B-1E91-E252C06C89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Firewalls: overview</a:t>
            </a:r>
          </a:p>
        </p:txBody>
      </p:sp>
      <p:sp>
        <p:nvSpPr>
          <p:cNvPr id="295939" name="Rectangle 3">
            <a:extLst>
              <a:ext uri="{FF2B5EF4-FFF2-40B4-BE49-F238E27FC236}">
                <a16:creationId xmlns:a16="http://schemas.microsoft.com/office/drawing/2014/main" id="{88545664-6290-3620-3E69-AAF81D9574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Provide central “choke point” for all traffic entering and exiting the system</a:t>
            </a:r>
          </a:p>
          <a:p>
            <a:r>
              <a:rPr lang="en-US" altLang="en-US"/>
              <a:t>Main goals</a:t>
            </a:r>
          </a:p>
          <a:p>
            <a:pPr lvl="1"/>
            <a:r>
              <a:rPr lang="en-US" altLang="en-US"/>
              <a:t>Service control – what services can be accessed (inbound or outbound)</a:t>
            </a:r>
          </a:p>
          <a:p>
            <a:pPr lvl="1"/>
            <a:r>
              <a:rPr lang="en-US" altLang="en-US"/>
              <a:t>Behavior control – how services are accessed (e.g., spam filtering, web content filtering)</a:t>
            </a:r>
          </a:p>
          <a:p>
            <a:pPr lvl="1"/>
            <a:r>
              <a:rPr lang="en-US" altLang="en-US"/>
              <a:t>User/machine control – controls access to services on a per-user/machine level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8B553C19-9138-5934-6391-3295980886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Firewalls: overview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7CC2CEE5-FB9E-03B9-5B3E-7F6F589B9A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Other goals</a:t>
            </a:r>
          </a:p>
          <a:p>
            <a:pPr lvl="1"/>
            <a:r>
              <a:rPr lang="en-US" altLang="en-US"/>
              <a:t>Auditing (see also intrusion detection)</a:t>
            </a:r>
          </a:p>
          <a:p>
            <a:pPr lvl="1"/>
            <a:r>
              <a:rPr lang="en-US" altLang="en-US"/>
              <a:t>Network address translation</a:t>
            </a:r>
          </a:p>
          <a:p>
            <a:pPr lvl="1"/>
            <a:r>
              <a:rPr lang="en-US" altLang="en-US"/>
              <a:t>Can also run security functionality, e.g., IPSec, VPN</a:t>
            </a:r>
          </a:p>
          <a:p>
            <a:r>
              <a:rPr lang="en-US" altLang="en-US"/>
              <a:t>What they cannot protect against</a:t>
            </a:r>
          </a:p>
          <a:p>
            <a:pPr lvl="1"/>
            <a:r>
              <a:rPr lang="en-US" altLang="en-US"/>
              <a:t>Do not offer full protection against insider attacks</a:t>
            </a:r>
          </a:p>
          <a:p>
            <a:pPr lvl="1"/>
            <a:r>
              <a:rPr lang="en-US" altLang="en-US"/>
              <a:t>Users bypassing the firewall  to connect to the Internet</a:t>
            </a:r>
          </a:p>
          <a:p>
            <a:pPr lvl="1"/>
            <a:r>
              <a:rPr lang="en-US" altLang="en-US"/>
              <a:t>Infected devices connecting to network internally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6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>
            <a:extLst>
              <a:ext uri="{FF2B5EF4-FFF2-40B4-BE49-F238E27FC236}">
                <a16:creationId xmlns:a16="http://schemas.microsoft.com/office/drawing/2014/main" id="{11A4D7E6-8DF3-8399-3791-74DFF7786F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Firewalls: overview</a:t>
            </a:r>
          </a:p>
        </p:txBody>
      </p:sp>
      <p:sp>
        <p:nvSpPr>
          <p:cNvPr id="297987" name="Rectangle 3">
            <a:extLst>
              <a:ext uri="{FF2B5EF4-FFF2-40B4-BE49-F238E27FC236}">
                <a16:creationId xmlns:a16="http://schemas.microsoft.com/office/drawing/2014/main" id="{E5FE5B92-8911-5B8B-6E26-D63182758A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Positive filter</a:t>
            </a:r>
          </a:p>
          <a:p>
            <a:pPr lvl="1"/>
            <a:r>
              <a:rPr lang="en-US" altLang="en-US"/>
              <a:t>Allow only traffic meeting certain criteria</a:t>
            </a:r>
          </a:p>
          <a:p>
            <a:pPr lvl="1"/>
            <a:r>
              <a:rPr lang="en-US" altLang="en-US"/>
              <a:t>I.e., the default is to reject</a:t>
            </a:r>
          </a:p>
          <a:p>
            <a:r>
              <a:rPr lang="en-US" altLang="en-US"/>
              <a:t>Negative filter</a:t>
            </a:r>
          </a:p>
          <a:p>
            <a:pPr lvl="1"/>
            <a:r>
              <a:rPr lang="en-US" altLang="en-US"/>
              <a:t>Reject traffic meeting certain criteria</a:t>
            </a:r>
          </a:p>
          <a:p>
            <a:pPr lvl="1"/>
            <a:r>
              <a:rPr lang="en-US" altLang="en-US"/>
              <a:t>I.e., the default is to accept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4" name="Rectangle 2">
            <a:extLst>
              <a:ext uri="{FF2B5EF4-FFF2-40B4-BE49-F238E27FC236}">
                <a16:creationId xmlns:a16="http://schemas.microsoft.com/office/drawing/2014/main" id="{82953918-2FFA-ADA3-90FD-C8464F71E8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Need for firewalls?</a:t>
            </a:r>
          </a:p>
        </p:txBody>
      </p:sp>
      <p:sp>
        <p:nvSpPr>
          <p:cNvPr id="294915" name="Rectangle 3">
            <a:extLst>
              <a:ext uri="{FF2B5EF4-FFF2-40B4-BE49-F238E27FC236}">
                <a16:creationId xmlns:a16="http://schemas.microsoft.com/office/drawing/2014/main" id="{6251023F-6856-FE1B-B693-FF3D0CEAE8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Why not </a:t>
            </a:r>
            <a:r>
              <a:rPr lang="en-US" altLang="en-US" i="1"/>
              <a:t>just</a:t>
            </a:r>
            <a:r>
              <a:rPr lang="en-US" altLang="en-US"/>
              <a:t> provision each computer with its own firewall/IDS?</a:t>
            </a:r>
          </a:p>
          <a:p>
            <a:pPr lvl="1"/>
            <a:r>
              <a:rPr lang="en-US" altLang="en-US"/>
              <a:t>Not cost effective</a:t>
            </a:r>
          </a:p>
          <a:p>
            <a:pPr lvl="1"/>
            <a:r>
              <a:rPr lang="en-US" altLang="en-US"/>
              <a:t>Different OS’s make management difficult</a:t>
            </a:r>
          </a:p>
          <a:p>
            <a:pPr lvl="1"/>
            <a:r>
              <a:rPr lang="en-US" altLang="en-US"/>
              <a:t>Patches must be propagated to all machines in the system</a:t>
            </a:r>
          </a:p>
          <a:p>
            <a:pPr lvl="1"/>
            <a:r>
              <a:rPr lang="en-US" altLang="en-US"/>
              <a:t>Does not protect against insider attacks that extend beyond the local network</a:t>
            </a:r>
          </a:p>
          <a:p>
            <a:r>
              <a:rPr lang="en-US" altLang="en-US"/>
              <a:t>Defense in depth</a:t>
            </a:r>
          </a:p>
          <a:p>
            <a:pPr lvl="1"/>
            <a:r>
              <a:rPr lang="en-US" altLang="en-US"/>
              <a:t>Can also have per-host firewalls as well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>
            <a:extLst>
              <a:ext uri="{FF2B5EF4-FFF2-40B4-BE49-F238E27FC236}">
                <a16:creationId xmlns:a16="http://schemas.microsoft.com/office/drawing/2014/main" id="{064FB963-28B0-4FF0-0D60-7D680A175F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Packet filtering</a:t>
            </a:r>
          </a:p>
        </p:txBody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340DB074-C9A4-4683-EBC6-F41736C364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Apply a set of rules to each incoming/outgoing packet</a:t>
            </a:r>
          </a:p>
          <a:p>
            <a:r>
              <a:rPr lang="en-US" altLang="en-US"/>
              <a:t>Packet filtering may be based on any part(s) of the traffic header(s), e.g.:</a:t>
            </a:r>
          </a:p>
          <a:p>
            <a:pPr lvl="1"/>
            <a:r>
              <a:rPr lang="en-US" altLang="en-US"/>
              <a:t>Source/destination IP address</a:t>
            </a:r>
          </a:p>
          <a:p>
            <a:pPr lvl="1"/>
            <a:r>
              <a:rPr lang="en-US" altLang="en-US"/>
              <a:t>Port numbers</a:t>
            </a:r>
          </a:p>
          <a:p>
            <a:pPr lvl="1"/>
            <a:r>
              <a:rPr lang="en-US" altLang="en-US"/>
              <a:t>Flags</a:t>
            </a:r>
          </a:p>
          <a:p>
            <a:pPr lvl="1"/>
            <a:r>
              <a:rPr lang="en-US" altLang="en-US"/>
              <a:t>Network interface (e.g., reject packet with internal IP address if coming from the wrong interface)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4E38C006-673C-FE1C-DE7A-AF998D6004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Disadvantages of packet filtering</a:t>
            </a:r>
          </a:p>
        </p:txBody>
      </p:sp>
      <p:sp>
        <p:nvSpPr>
          <p:cNvPr id="300035" name="Rectangle 3">
            <a:extLst>
              <a:ext uri="{FF2B5EF4-FFF2-40B4-BE49-F238E27FC236}">
                <a16:creationId xmlns:a16="http://schemas.microsoft.com/office/drawing/2014/main" id="{A36A9CA4-9133-3A8B-BFC1-D84C8CA2FE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Can be difficult to configure rules to achieve both usability and security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ftp uses a dynamically-assigned port number for the data transfer</a:t>
            </a:r>
          </a:p>
          <a:p>
            <a:pPr>
              <a:lnSpc>
                <a:spcPct val="90000"/>
              </a:lnSpc>
            </a:pPr>
            <a:r>
              <a:rPr lang="en-US" altLang="en-US"/>
              <a:t>Misconfigurations can be easily exploited</a:t>
            </a:r>
          </a:p>
          <a:p>
            <a:pPr>
              <a:lnSpc>
                <a:spcPct val="90000"/>
              </a:lnSpc>
            </a:pPr>
            <a:r>
              <a:rPr lang="en-US" altLang="en-US"/>
              <a:t>Does not examine application-level data</a:t>
            </a:r>
          </a:p>
          <a:p>
            <a:pPr>
              <a:lnSpc>
                <a:spcPct val="90000"/>
              </a:lnSpc>
            </a:pPr>
            <a:r>
              <a:rPr lang="en-US" altLang="en-US"/>
              <a:t>No user authentication</a:t>
            </a:r>
          </a:p>
          <a:p>
            <a:pPr>
              <a:lnSpc>
                <a:spcPct val="90000"/>
              </a:lnSpc>
            </a:pPr>
            <a:r>
              <a:rPr lang="en-US" altLang="en-US"/>
              <a:t>Does not address inherent TCP/IP vulnerabilities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E.g., address spoofing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BCEA2992-39E8-D6B8-F18B-FF317B107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Stateful firewalls</a:t>
            </a:r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1FA052D5-21CD-5B2D-7263-3C5D9665BD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Typical packet filtering applied on a packet-by-packet basis</a:t>
            </a:r>
          </a:p>
          <a:p>
            <a:r>
              <a:rPr lang="en-US" altLang="en-US"/>
              <a:t>Can also look at </a:t>
            </a:r>
            <a:r>
              <a:rPr lang="en-US" altLang="en-US" i="1"/>
              <a:t>context</a:t>
            </a:r>
            <a:endParaRPr lang="en-US" altLang="en-US"/>
          </a:p>
          <a:p>
            <a:pPr lvl="1"/>
            <a:r>
              <a:rPr lang="en-US" altLang="en-US"/>
              <a:t>E.g., maintain list of active TCP connections (useful when port number are dynamically assigned)</a:t>
            </a:r>
          </a:p>
          <a:p>
            <a:pPr lvl="1"/>
            <a:r>
              <a:rPr lang="en-US" altLang="en-US"/>
              <a:t>E.g., look at sequence numbers and detect replays</a:t>
            </a:r>
          </a:p>
          <a:p>
            <a:r>
              <a:rPr lang="en-US" altLang="en-US"/>
              <a:t>Can also use global information (e.g., number of packets to/from a particular IP address)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1059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D48742EB-8885-EE16-E1BD-F75FBC003C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Application-level gateways</a:t>
            </a:r>
          </a:p>
        </p:txBody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B47061A1-68E9-8371-54C1-72440A2E1A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772400" cy="4876800"/>
          </a:xfrm>
        </p:spPr>
        <p:txBody>
          <a:bodyPr/>
          <a:lstStyle/>
          <a:p>
            <a:r>
              <a:rPr lang="en-US" altLang="en-US"/>
              <a:t>Acts as an application-level proxy for users</a:t>
            </a:r>
          </a:p>
          <a:p>
            <a:pPr lvl="1"/>
            <a:r>
              <a:rPr lang="en-US" altLang="en-US"/>
              <a:t>Each “logical” connection is actually two TCP connections</a:t>
            </a:r>
          </a:p>
          <a:p>
            <a:pPr lvl="1"/>
            <a:r>
              <a:rPr lang="en-US" altLang="en-US"/>
              <a:t>If particular application is not supported, that application is not allowed</a:t>
            </a:r>
          </a:p>
        </p:txBody>
      </p:sp>
      <p:grpSp>
        <p:nvGrpSpPr>
          <p:cNvPr id="329732" name="Group 4">
            <a:extLst>
              <a:ext uri="{FF2B5EF4-FFF2-40B4-BE49-F238E27FC236}">
                <a16:creationId xmlns:a16="http://schemas.microsoft.com/office/drawing/2014/main" id="{EEED93E8-C7F6-22F3-4079-901986CC4B7C}"/>
              </a:ext>
            </a:extLst>
          </p:cNvPr>
          <p:cNvGrpSpPr>
            <a:grpSpLocks/>
          </p:cNvGrpSpPr>
          <p:nvPr/>
        </p:nvGrpSpPr>
        <p:grpSpPr bwMode="auto">
          <a:xfrm>
            <a:off x="2343150" y="4419600"/>
            <a:ext cx="5276850" cy="1638300"/>
            <a:chOff x="2418" y="1960"/>
            <a:chExt cx="3324" cy="1032"/>
          </a:xfrm>
        </p:grpSpPr>
        <p:sp>
          <p:nvSpPr>
            <p:cNvPr id="329733" name="Rectangle 5">
              <a:extLst>
                <a:ext uri="{FF2B5EF4-FFF2-40B4-BE49-F238E27FC236}">
                  <a16:creationId xmlns:a16="http://schemas.microsoft.com/office/drawing/2014/main" id="{157F0DB3-EADC-EE3D-ED17-E007D8638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7" y="2055"/>
              <a:ext cx="811" cy="937"/>
            </a:xfrm>
            <a:prstGeom prst="rect">
              <a:avLst/>
            </a:prstGeom>
            <a:noFill/>
            <a:ln w="19050" algn="ctr">
              <a:solidFill>
                <a:srgbClr val="CC2700"/>
              </a:solidFill>
              <a:miter lim="800000"/>
              <a:headEnd/>
              <a:tailEnd type="none" w="lg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9734" name="Rectangle 6">
              <a:extLst>
                <a:ext uri="{FF2B5EF4-FFF2-40B4-BE49-F238E27FC236}">
                  <a16:creationId xmlns:a16="http://schemas.microsoft.com/office/drawing/2014/main" id="{14A4EF48-4FE6-41B2-15BD-6D5C821258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8" y="2120"/>
              <a:ext cx="613" cy="821"/>
            </a:xfrm>
            <a:prstGeom prst="rect">
              <a:avLst/>
            </a:prstGeom>
            <a:solidFill>
              <a:srgbClr val="DDDDDD"/>
            </a:solidFill>
            <a:ln w="76200" algn="ctr">
              <a:solidFill>
                <a:srgbClr val="DDDDDD"/>
              </a:solidFill>
              <a:miter lim="800000"/>
              <a:headEnd/>
              <a:tailEnd type="none" w="lg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/>
            </a:p>
          </p:txBody>
        </p:sp>
        <p:sp>
          <p:nvSpPr>
            <p:cNvPr id="329735" name="Text Box 7">
              <a:extLst>
                <a:ext uri="{FF2B5EF4-FFF2-40B4-BE49-F238E27FC236}">
                  <a16:creationId xmlns:a16="http://schemas.microsoft.com/office/drawing/2014/main" id="{A2E8C1C0-BCE0-4520-C32C-7021D9E75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2186"/>
              <a:ext cx="675" cy="1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Telnet</a:t>
              </a:r>
              <a:endParaRPr lang="en-GB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36" name="Text Box 8">
              <a:extLst>
                <a:ext uri="{FF2B5EF4-FFF2-40B4-BE49-F238E27FC236}">
                  <a16:creationId xmlns:a16="http://schemas.microsoft.com/office/drawing/2014/main" id="{0BED2729-5747-7973-F4FE-6AC29D6572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2360"/>
              <a:ext cx="675" cy="1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FTP</a:t>
              </a:r>
              <a:endParaRPr lang="en-GB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37" name="Text Box 9">
              <a:extLst>
                <a:ext uri="{FF2B5EF4-FFF2-40B4-BE49-F238E27FC236}">
                  <a16:creationId xmlns:a16="http://schemas.microsoft.com/office/drawing/2014/main" id="{6B2A6F2D-DEC8-89D7-5295-13017F6417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2534"/>
              <a:ext cx="675" cy="1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SMTP</a:t>
              </a:r>
              <a:endParaRPr lang="en-GB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38" name="Text Box 10">
              <a:extLst>
                <a:ext uri="{FF2B5EF4-FFF2-40B4-BE49-F238E27FC236}">
                  <a16:creationId xmlns:a16="http://schemas.microsoft.com/office/drawing/2014/main" id="{66D82712-E9B7-2F00-C63B-7D7B2B2506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5" y="2709"/>
              <a:ext cx="675" cy="17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marL="342900" indent="-342900"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algn="l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HTTP</a:t>
              </a:r>
              <a:endParaRPr lang="en-GB" altLang="en-US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39" name="Line 11">
              <a:extLst>
                <a:ext uri="{FF2B5EF4-FFF2-40B4-BE49-F238E27FC236}">
                  <a16:creationId xmlns:a16="http://schemas.microsoft.com/office/drawing/2014/main" id="{D20DCD26-571B-FCD0-BF4C-997006619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71" y="2262"/>
              <a:ext cx="619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 type="stealth" w="lg" len="med"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pic>
          <p:nvPicPr>
            <p:cNvPr id="329740" name="Picture 12">
              <a:extLst>
                <a:ext uri="{FF2B5EF4-FFF2-40B4-BE49-F238E27FC236}">
                  <a16:creationId xmlns:a16="http://schemas.microsoft.com/office/drawing/2014/main" id="{0516ABB2-7955-FFD9-918B-5A761ED50B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4885" y="1960"/>
              <a:ext cx="367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9741" name="Line 13">
              <a:extLst>
                <a:ext uri="{FF2B5EF4-FFF2-40B4-BE49-F238E27FC236}">
                  <a16:creationId xmlns:a16="http://schemas.microsoft.com/office/drawing/2014/main" id="{AC2FC5C5-F280-4132-8400-BBF5FCCE0C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4" y="2266"/>
              <a:ext cx="620" cy="0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prstDash val="sysDot"/>
              <a:round/>
              <a:headEnd type="stealth" w="lg" len="med"/>
              <a:tailEnd type="stealth" w="lg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pic>
          <p:nvPicPr>
            <p:cNvPr id="329742" name="Picture 14">
              <a:extLst>
                <a:ext uri="{FF2B5EF4-FFF2-40B4-BE49-F238E27FC236}">
                  <a16:creationId xmlns:a16="http://schemas.microsoft.com/office/drawing/2014/main" id="{C9113856-BEAD-722F-DF4F-3E17A7F99C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2585" y="2015"/>
              <a:ext cx="367" cy="3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9743" name="Text Box 15">
              <a:extLst>
                <a:ext uri="{FF2B5EF4-FFF2-40B4-BE49-F238E27FC236}">
                  <a16:creationId xmlns:a16="http://schemas.microsoft.com/office/drawing/2014/main" id="{004F1B5C-4668-5F67-5A77-39F4CD145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" y="2371"/>
              <a:ext cx="823" cy="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Outside host</a:t>
              </a:r>
              <a:endParaRPr lang="en-GB" alt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44" name="Text Box 16">
              <a:extLst>
                <a:ext uri="{FF2B5EF4-FFF2-40B4-BE49-F238E27FC236}">
                  <a16:creationId xmlns:a16="http://schemas.microsoft.com/office/drawing/2014/main" id="{20D1B384-1BDB-2FCE-9352-45469E978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9" y="2321"/>
              <a:ext cx="823" cy="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Inside  host</a:t>
              </a:r>
              <a:endParaRPr lang="en-GB" alt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45" name="Text Box 17">
              <a:extLst>
                <a:ext uri="{FF2B5EF4-FFF2-40B4-BE49-F238E27FC236}">
                  <a16:creationId xmlns:a16="http://schemas.microsoft.com/office/drawing/2014/main" id="{C6EAAFA5-1C09-59F0-3F3A-E453A723DC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69" y="2024"/>
              <a:ext cx="822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Outside connection</a:t>
              </a:r>
              <a:endParaRPr lang="en-GB" alt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746" name="Text Box 18">
              <a:extLst>
                <a:ext uri="{FF2B5EF4-FFF2-40B4-BE49-F238E27FC236}">
                  <a16:creationId xmlns:a16="http://schemas.microsoft.com/office/drawing/2014/main" id="{FC62D8B5-4B66-9929-6E28-CFA6358A6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3" y="2018"/>
              <a:ext cx="823" cy="2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Inside connection</a:t>
              </a:r>
              <a:endParaRPr lang="en-GB" alt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9731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>
            <a:extLst>
              <a:ext uri="{FF2B5EF4-FFF2-40B4-BE49-F238E27FC236}">
                <a16:creationId xmlns:a16="http://schemas.microsoft.com/office/drawing/2014/main" id="{20F81F35-CFD4-DB15-3211-386FA325B1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Application-level gateways</a:t>
            </a:r>
          </a:p>
        </p:txBody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3DB5D5EC-0D2C-F177-C2CC-B14030FFE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Advantages</a:t>
            </a:r>
          </a:p>
          <a:p>
            <a:pPr lvl="1"/>
            <a:r>
              <a:rPr lang="en-US" altLang="en-US"/>
              <a:t>Restricted number of applications to worry about</a:t>
            </a:r>
          </a:p>
          <a:p>
            <a:pPr lvl="1"/>
            <a:r>
              <a:rPr lang="en-US" altLang="en-US"/>
              <a:t>Can examine application-level traffic for potential vulnerabilities</a:t>
            </a:r>
          </a:p>
          <a:p>
            <a:pPr lvl="1"/>
            <a:r>
              <a:rPr lang="en-US" altLang="en-US"/>
              <a:t>Can provide user authentication</a:t>
            </a:r>
          </a:p>
          <a:p>
            <a:pPr lvl="1"/>
            <a:r>
              <a:rPr lang="en-US" altLang="en-US"/>
              <a:t>More secure than packet-based filtering</a:t>
            </a:r>
          </a:p>
          <a:p>
            <a:r>
              <a:rPr lang="en-US" altLang="en-US"/>
              <a:t>But…</a:t>
            </a:r>
          </a:p>
          <a:p>
            <a:pPr lvl="1"/>
            <a:r>
              <a:rPr lang="en-US" altLang="en-US"/>
              <a:t>Higher processing overhead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>
            <a:extLst>
              <a:ext uri="{FF2B5EF4-FFF2-40B4-BE49-F238E27FC236}">
                <a16:creationId xmlns:a16="http://schemas.microsoft.com/office/drawing/2014/main" id="{30F9AE6C-12EF-9812-56E4-44F73C442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Circuit-level gateways</a:t>
            </a:r>
          </a:p>
        </p:txBody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46867CD0-BC25-23F7-DAC5-6502387AF0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As with application-level gateways, circuit-level gateways set up two TCP connections:</a:t>
            </a:r>
          </a:p>
          <a:p>
            <a:r>
              <a:rPr lang="en-US" altLang="en-US"/>
              <a:t>Once connections are established, TCP segments are forwarded </a:t>
            </a:r>
            <a:r>
              <a:rPr lang="en-US" altLang="en-US" i="1"/>
              <a:t>without examining their contents</a:t>
            </a:r>
          </a:p>
          <a:p>
            <a:pPr lvl="1"/>
            <a:r>
              <a:rPr lang="en-US" altLang="en-US"/>
              <a:t>The security function consists of determining which connections are allowed</a:t>
            </a:r>
          </a:p>
        </p:txBody>
      </p:sp>
      <p:grpSp>
        <p:nvGrpSpPr>
          <p:cNvPr id="331780" name="Group 4">
            <a:extLst>
              <a:ext uri="{FF2B5EF4-FFF2-40B4-BE49-F238E27FC236}">
                <a16:creationId xmlns:a16="http://schemas.microsoft.com/office/drawing/2014/main" id="{0DE19206-8D66-8774-62BE-A4FC61F930CF}"/>
              </a:ext>
            </a:extLst>
          </p:cNvPr>
          <p:cNvGrpSpPr>
            <a:grpSpLocks/>
          </p:cNvGrpSpPr>
          <p:nvPr/>
        </p:nvGrpSpPr>
        <p:grpSpPr bwMode="auto">
          <a:xfrm>
            <a:off x="4170363" y="4267200"/>
            <a:ext cx="4745037" cy="2379663"/>
            <a:chOff x="3210" y="2064"/>
            <a:chExt cx="2989" cy="1499"/>
          </a:xfrm>
        </p:grpSpPr>
        <p:sp>
          <p:nvSpPr>
            <p:cNvPr id="331781" name="Text Box 5">
              <a:extLst>
                <a:ext uri="{FF2B5EF4-FFF2-40B4-BE49-F238E27FC236}">
                  <a16:creationId xmlns:a16="http://schemas.microsoft.com/office/drawing/2014/main" id="{1C93D929-D684-538A-2023-95E20A2340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3" y="3179"/>
              <a:ext cx="876" cy="1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76200" algn="ctr">
                  <a:solidFill>
                    <a:srgbClr val="CC2700"/>
                  </a:solidFill>
                  <a:miter lim="800000"/>
                  <a:headEnd/>
                  <a:tailEnd type="none" w="lg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>
                <a:lnSpc>
                  <a:spcPct val="90000"/>
                </a:lnSpc>
                <a:spcBef>
                  <a:spcPct val="50000"/>
                </a:spcBef>
              </a:pPr>
              <a:r>
                <a:rPr lang="en-US" altLang="en-US" sz="1200" b="1">
                  <a:latin typeface="Arial" panose="020B0604020202020204" pitchFamily="34" charset="0"/>
                  <a:cs typeface="Arial" panose="020B0604020202020204" pitchFamily="34" charset="0"/>
                </a:rPr>
                <a:t>Inside  host</a:t>
              </a:r>
              <a:endParaRPr lang="en-GB" altLang="en-US" sz="12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31782" name="Group 6">
              <a:extLst>
                <a:ext uri="{FF2B5EF4-FFF2-40B4-BE49-F238E27FC236}">
                  <a16:creationId xmlns:a16="http://schemas.microsoft.com/office/drawing/2014/main" id="{61802A44-E0B0-4E0C-00D6-00848BD139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0" y="2064"/>
              <a:ext cx="2550" cy="1499"/>
              <a:chOff x="3210" y="2064"/>
              <a:chExt cx="2550" cy="1499"/>
            </a:xfrm>
          </p:grpSpPr>
          <p:sp>
            <p:nvSpPr>
              <p:cNvPr id="331783" name="Line 7">
                <a:extLst>
                  <a:ext uri="{FF2B5EF4-FFF2-40B4-BE49-F238E27FC236}">
                    <a16:creationId xmlns:a16="http://schemas.microsoft.com/office/drawing/2014/main" id="{4274AAF1-3942-A545-C02C-D34743193B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72" y="2562"/>
                <a:ext cx="492" cy="0"/>
              </a:xfrm>
              <a:prstGeom prst="line">
                <a:avLst/>
              </a:prstGeom>
              <a:noFill/>
              <a:ln w="12700">
                <a:solidFill>
                  <a:srgbClr val="CC2700"/>
                </a:solidFill>
                <a:prstDash val="sysDot"/>
                <a:round/>
                <a:headEnd type="stealth" w="lg" len="med"/>
                <a:tailEnd type="stealth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331784" name="Picture 8">
                <a:extLst>
                  <a:ext uri="{FF2B5EF4-FFF2-40B4-BE49-F238E27FC236}">
                    <a16:creationId xmlns:a16="http://schemas.microsoft.com/office/drawing/2014/main" id="{F36E7CEA-5A6A-6B0F-E159-64D5FC67AC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5369" y="2806"/>
                <a:ext cx="391" cy="3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1785" name="Line 9">
                <a:extLst>
                  <a:ext uri="{FF2B5EF4-FFF2-40B4-BE49-F238E27FC236}">
                    <a16:creationId xmlns:a16="http://schemas.microsoft.com/office/drawing/2014/main" id="{23C64550-E343-32AD-495E-33C65A2A51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27" y="3185"/>
                <a:ext cx="432" cy="0"/>
              </a:xfrm>
              <a:prstGeom prst="line">
                <a:avLst/>
              </a:prstGeom>
              <a:noFill/>
              <a:ln w="12700">
                <a:solidFill>
                  <a:srgbClr val="CC2700"/>
                </a:solidFill>
                <a:prstDash val="sysDot"/>
                <a:round/>
                <a:headEnd type="stealth" w="lg" len="med"/>
                <a:tailEnd type="stealth" w="lg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pic>
            <p:nvPicPr>
              <p:cNvPr id="331786" name="Picture 10">
                <a:extLst>
                  <a:ext uri="{FF2B5EF4-FFF2-40B4-BE49-F238E27FC236}">
                    <a16:creationId xmlns:a16="http://schemas.microsoft.com/office/drawing/2014/main" id="{4FE4DCFC-7A4C-ADFF-AFCA-A012FC8C40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3388" y="2315"/>
                <a:ext cx="391" cy="37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31787" name="Text Box 11">
                <a:extLst>
                  <a:ext uri="{FF2B5EF4-FFF2-40B4-BE49-F238E27FC236}">
                    <a16:creationId xmlns:a16="http://schemas.microsoft.com/office/drawing/2014/main" id="{5ED85D7B-25A4-7356-867B-AC9242D275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10" y="2706"/>
                <a:ext cx="876" cy="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76200" algn="ctr">
                    <a:solidFill>
                      <a:srgbClr val="CC2700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 b="1">
                    <a:latin typeface="Arial" panose="020B0604020202020204" pitchFamily="34" charset="0"/>
                    <a:cs typeface="Arial" panose="020B0604020202020204" pitchFamily="34" charset="0"/>
                  </a:rPr>
                  <a:t>Outside host</a:t>
                </a:r>
                <a:endParaRPr lang="en-GB" altLang="en-US" sz="12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788" name="Text Box 12">
                <a:extLst>
                  <a:ext uri="{FF2B5EF4-FFF2-40B4-BE49-F238E27FC236}">
                    <a16:creationId xmlns:a16="http://schemas.microsoft.com/office/drawing/2014/main" id="{00523192-1D54-ED03-726D-D0363B64AC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44" y="2338"/>
                <a:ext cx="636" cy="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76200" algn="ctr">
                    <a:solidFill>
                      <a:srgbClr val="CC2700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Outside connection</a:t>
                </a:r>
                <a:endParaRPr lang="en-GB" altLang="en-US" sz="10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789" name="Text Box 13">
                <a:extLst>
                  <a:ext uri="{FF2B5EF4-FFF2-40B4-BE49-F238E27FC236}">
                    <a16:creationId xmlns:a16="http://schemas.microsoft.com/office/drawing/2014/main" id="{9E79CD49-5F5E-6C10-93BA-0E76B44C3B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60" y="2920"/>
                <a:ext cx="876" cy="2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76200" algn="ctr">
                    <a:solidFill>
                      <a:srgbClr val="CC2700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ct val="5000"/>
                  </a:spcBef>
                </a:pPr>
                <a:r>
                  <a:rPr lang="en-US" altLang="en-US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Inside </a:t>
                </a:r>
              </a:p>
              <a:p>
                <a:pPr algn="l">
                  <a:lnSpc>
                    <a:spcPct val="90000"/>
                  </a:lnSpc>
                  <a:spcBef>
                    <a:spcPct val="5000"/>
                  </a:spcBef>
                </a:pPr>
                <a:r>
                  <a:rPr lang="en-US" altLang="en-US" sz="1000" b="1">
                    <a:latin typeface="Arial" panose="020B0604020202020204" pitchFamily="34" charset="0"/>
                    <a:cs typeface="Arial" panose="020B0604020202020204" pitchFamily="34" charset="0"/>
                  </a:rPr>
                  <a:t>connection</a:t>
                </a:r>
                <a:endParaRPr lang="en-GB" altLang="en-US" sz="10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1790" name="Group 14">
                <a:extLst>
                  <a:ext uri="{FF2B5EF4-FFF2-40B4-BE49-F238E27FC236}">
                    <a16:creationId xmlns:a16="http://schemas.microsoft.com/office/drawing/2014/main" id="{49A94068-352B-4132-3280-9F6CC33F7D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0" y="2346"/>
                <a:ext cx="762" cy="1032"/>
                <a:chOff x="4240" y="2346"/>
                <a:chExt cx="762" cy="1032"/>
              </a:xfrm>
            </p:grpSpPr>
            <p:grpSp>
              <p:nvGrpSpPr>
                <p:cNvPr id="331791" name="Group 15">
                  <a:extLst>
                    <a:ext uri="{FF2B5EF4-FFF2-40B4-BE49-F238E27FC236}">
                      <a16:creationId xmlns:a16="http://schemas.microsoft.com/office/drawing/2014/main" id="{D9CAE19B-77CA-B5AC-BE5D-7DFFB92ABB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40" y="2346"/>
                  <a:ext cx="600" cy="1032"/>
                  <a:chOff x="4036" y="1554"/>
                  <a:chExt cx="864" cy="1032"/>
                </a:xfrm>
              </p:grpSpPr>
              <p:sp>
                <p:nvSpPr>
                  <p:cNvPr id="331792" name="Rectangle 16">
                    <a:extLst>
                      <a:ext uri="{FF2B5EF4-FFF2-40B4-BE49-F238E27FC236}">
                        <a16:creationId xmlns:a16="http://schemas.microsoft.com/office/drawing/2014/main" id="{BC8F6603-D2FE-38AE-1FEF-AA6E06B890E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36" y="1554"/>
                    <a:ext cx="864" cy="1032"/>
                  </a:xfrm>
                  <a:prstGeom prst="rect">
                    <a:avLst/>
                  </a:prstGeom>
                  <a:noFill/>
                  <a:ln w="19050" algn="ctr">
                    <a:solidFill>
                      <a:srgbClr val="CC2700"/>
                    </a:solidFill>
                    <a:miter lim="800000"/>
                    <a:headEnd/>
                    <a:tailEnd type="none" w="lg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793" name="Rectangle 17">
                    <a:extLst>
                      <a:ext uri="{FF2B5EF4-FFF2-40B4-BE49-F238E27FC236}">
                        <a16:creationId xmlns:a16="http://schemas.microsoft.com/office/drawing/2014/main" id="{AE05BD30-CA9D-992B-E985-B1E7FDAAA1E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4" y="1626"/>
                    <a:ext cx="653" cy="904"/>
                  </a:xfrm>
                  <a:prstGeom prst="rect">
                    <a:avLst/>
                  </a:prstGeom>
                  <a:solidFill>
                    <a:srgbClr val="DDDDDD"/>
                  </a:solidFill>
                  <a:ln w="76200" algn="ctr">
                    <a:solidFill>
                      <a:srgbClr val="DDDDDD"/>
                    </a:solidFill>
                    <a:miter lim="800000"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</p:grpSp>
            <p:grpSp>
              <p:nvGrpSpPr>
                <p:cNvPr id="331794" name="Group 18">
                  <a:extLst>
                    <a:ext uri="{FF2B5EF4-FFF2-40B4-BE49-F238E27FC236}">
                      <a16:creationId xmlns:a16="http://schemas.microsoft.com/office/drawing/2014/main" id="{B66C296F-19D0-5ABA-921F-A378B4065E2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60" y="2472"/>
                  <a:ext cx="354" cy="174"/>
                  <a:chOff x="4290" y="2472"/>
                  <a:chExt cx="354" cy="174"/>
                </a:xfrm>
              </p:grpSpPr>
              <p:sp>
                <p:nvSpPr>
                  <p:cNvPr id="331795" name="Oval 19">
                    <a:extLst>
                      <a:ext uri="{FF2B5EF4-FFF2-40B4-BE49-F238E27FC236}">
                        <a16:creationId xmlns:a16="http://schemas.microsoft.com/office/drawing/2014/main" id="{EED96690-C630-EE4F-CBE0-C87C8AB77A3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6" y="2472"/>
                    <a:ext cx="192" cy="1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796" name="Text Box 20">
                    <a:extLst>
                      <a:ext uri="{FF2B5EF4-FFF2-40B4-BE49-F238E27FC236}">
                        <a16:creationId xmlns:a16="http://schemas.microsoft.com/office/drawing/2014/main" id="{5F320488-5386-C42A-784D-7EA8C4FC501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0" y="2508"/>
                    <a:ext cx="354" cy="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6200" algn="ctr">
                        <a:solidFill>
                          <a:srgbClr val="CC2700"/>
                        </a:solidFill>
                        <a:miter lim="800000"/>
                        <a:headEnd/>
                        <a:tailEnd type="none" w="lg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marL="342900" indent="-342900"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en-US" altLang="en-US" sz="6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Out</a:t>
                    </a:r>
                    <a:endParaRPr lang="en-GB" altLang="en-US" sz="600" b="1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1797" name="Group 21">
                  <a:extLst>
                    <a:ext uri="{FF2B5EF4-FFF2-40B4-BE49-F238E27FC236}">
                      <a16:creationId xmlns:a16="http://schemas.microsoft.com/office/drawing/2014/main" id="{78CAB6A0-8A99-EE41-91BF-FF5A8FD0CD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65" y="2783"/>
                  <a:ext cx="354" cy="174"/>
                  <a:chOff x="4290" y="2472"/>
                  <a:chExt cx="354" cy="174"/>
                </a:xfrm>
              </p:grpSpPr>
              <p:sp>
                <p:nvSpPr>
                  <p:cNvPr id="331798" name="Oval 22">
                    <a:extLst>
                      <a:ext uri="{FF2B5EF4-FFF2-40B4-BE49-F238E27FC236}">
                        <a16:creationId xmlns:a16="http://schemas.microsoft.com/office/drawing/2014/main" id="{F7228B27-5008-889B-DB75-C04300E71AC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6" y="2472"/>
                    <a:ext cx="192" cy="1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799" name="Text Box 23">
                    <a:extLst>
                      <a:ext uri="{FF2B5EF4-FFF2-40B4-BE49-F238E27FC236}">
                        <a16:creationId xmlns:a16="http://schemas.microsoft.com/office/drawing/2014/main" id="{6721B700-5C13-854D-58B4-E1C7F2DFB8DC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0" y="2508"/>
                    <a:ext cx="354" cy="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6200" algn="ctr">
                        <a:solidFill>
                          <a:srgbClr val="CC2700"/>
                        </a:solidFill>
                        <a:miter lim="800000"/>
                        <a:headEnd/>
                        <a:tailEnd type="none" w="lg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marL="342900" indent="-342900"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en-US" altLang="en-US" sz="6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Out</a:t>
                    </a:r>
                    <a:endParaRPr lang="en-GB" altLang="en-US" sz="600" b="1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1800" name="Group 24">
                  <a:extLst>
                    <a:ext uri="{FF2B5EF4-FFF2-40B4-BE49-F238E27FC236}">
                      <a16:creationId xmlns:a16="http://schemas.microsoft.com/office/drawing/2014/main" id="{793DACB3-C6A1-F9F1-4EB0-B2DA117025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270" y="3106"/>
                  <a:ext cx="354" cy="174"/>
                  <a:chOff x="4290" y="2472"/>
                  <a:chExt cx="354" cy="174"/>
                </a:xfrm>
              </p:grpSpPr>
              <p:sp>
                <p:nvSpPr>
                  <p:cNvPr id="331801" name="Oval 25">
                    <a:extLst>
                      <a:ext uri="{FF2B5EF4-FFF2-40B4-BE49-F238E27FC236}">
                        <a16:creationId xmlns:a16="http://schemas.microsoft.com/office/drawing/2014/main" id="{39C6D182-0F99-A8C5-E186-1F8F9D5E17E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96" y="2472"/>
                    <a:ext cx="192" cy="1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802" name="Text Box 26">
                    <a:extLst>
                      <a:ext uri="{FF2B5EF4-FFF2-40B4-BE49-F238E27FC236}">
                        <a16:creationId xmlns:a16="http://schemas.microsoft.com/office/drawing/2014/main" id="{64E68EA5-2087-9353-0236-67D58E564AA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90" y="2508"/>
                    <a:ext cx="354" cy="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6200" algn="ctr">
                        <a:solidFill>
                          <a:srgbClr val="CC2700"/>
                        </a:solidFill>
                        <a:miter lim="800000"/>
                        <a:headEnd/>
                        <a:tailEnd type="none" w="lg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marL="342900" indent="-342900"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en-US" altLang="en-US" sz="6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Out</a:t>
                    </a:r>
                    <a:endParaRPr lang="en-GB" altLang="en-US" sz="600" b="1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1803" name="Group 27">
                  <a:extLst>
                    <a:ext uri="{FF2B5EF4-FFF2-40B4-BE49-F238E27FC236}">
                      <a16:creationId xmlns:a16="http://schemas.microsoft.com/office/drawing/2014/main" id="{F2AF5E2C-CAE8-3B15-8C55-F5168882419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6" y="2466"/>
                  <a:ext cx="372" cy="174"/>
                  <a:chOff x="4638" y="2466"/>
                  <a:chExt cx="372" cy="174"/>
                </a:xfrm>
              </p:grpSpPr>
              <p:sp>
                <p:nvSpPr>
                  <p:cNvPr id="331804" name="Oval 28">
                    <a:extLst>
                      <a:ext uri="{FF2B5EF4-FFF2-40B4-BE49-F238E27FC236}">
                        <a16:creationId xmlns:a16="http://schemas.microsoft.com/office/drawing/2014/main" id="{95CD2D03-4392-3888-3001-35E390E8CC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38" y="2466"/>
                    <a:ext cx="192" cy="1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805" name="Text Box 29">
                    <a:extLst>
                      <a:ext uri="{FF2B5EF4-FFF2-40B4-BE49-F238E27FC236}">
                        <a16:creationId xmlns:a16="http://schemas.microsoft.com/office/drawing/2014/main" id="{F380DA45-97BF-9FE9-9DAE-F9A2F8BE73F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6" y="2502"/>
                    <a:ext cx="354" cy="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6200" algn="ctr">
                        <a:solidFill>
                          <a:srgbClr val="CC2700"/>
                        </a:solidFill>
                        <a:miter lim="800000"/>
                        <a:headEnd/>
                        <a:tailEnd type="none" w="lg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marL="342900" indent="-342900"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en-US" altLang="en-US" sz="6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</a:t>
                    </a:r>
                    <a:endParaRPr lang="en-GB" altLang="en-US" sz="600" b="1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1806" name="Group 30">
                  <a:extLst>
                    <a:ext uri="{FF2B5EF4-FFF2-40B4-BE49-F238E27FC236}">
                      <a16:creationId xmlns:a16="http://schemas.microsoft.com/office/drawing/2014/main" id="{E653C85B-1CA9-CB1B-3B6A-878C9853E3E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25" y="2783"/>
                  <a:ext cx="372" cy="174"/>
                  <a:chOff x="4638" y="2466"/>
                  <a:chExt cx="372" cy="174"/>
                </a:xfrm>
              </p:grpSpPr>
              <p:sp>
                <p:nvSpPr>
                  <p:cNvPr id="331807" name="Oval 31">
                    <a:extLst>
                      <a:ext uri="{FF2B5EF4-FFF2-40B4-BE49-F238E27FC236}">
                        <a16:creationId xmlns:a16="http://schemas.microsoft.com/office/drawing/2014/main" id="{4ACD1FC4-5BA4-CB4B-D854-D60E161A611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38" y="2466"/>
                    <a:ext cx="192" cy="1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808" name="Text Box 32">
                    <a:extLst>
                      <a:ext uri="{FF2B5EF4-FFF2-40B4-BE49-F238E27FC236}">
                        <a16:creationId xmlns:a16="http://schemas.microsoft.com/office/drawing/2014/main" id="{EA51D223-B32F-3B66-5B7C-2819C258B4DF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6" y="2502"/>
                    <a:ext cx="354" cy="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6200" algn="ctr">
                        <a:solidFill>
                          <a:srgbClr val="CC2700"/>
                        </a:solidFill>
                        <a:miter lim="800000"/>
                        <a:headEnd/>
                        <a:tailEnd type="none" w="lg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marL="342900" indent="-342900"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en-US" altLang="en-US" sz="6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</a:t>
                    </a:r>
                    <a:endParaRPr lang="en-GB" altLang="en-US" sz="600" b="1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331809" name="Group 33">
                  <a:extLst>
                    <a:ext uri="{FF2B5EF4-FFF2-40B4-BE49-F238E27FC236}">
                      <a16:creationId xmlns:a16="http://schemas.microsoft.com/office/drawing/2014/main" id="{BD127E5B-E3CE-1C48-C6BC-E0616EBBFE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630" y="3100"/>
                  <a:ext cx="372" cy="174"/>
                  <a:chOff x="4638" y="2466"/>
                  <a:chExt cx="372" cy="174"/>
                </a:xfrm>
              </p:grpSpPr>
              <p:sp>
                <p:nvSpPr>
                  <p:cNvPr id="331810" name="Oval 34">
                    <a:extLst>
                      <a:ext uri="{FF2B5EF4-FFF2-40B4-BE49-F238E27FC236}">
                        <a16:creationId xmlns:a16="http://schemas.microsoft.com/office/drawing/2014/main" id="{D26225FE-EE93-5E94-AACE-AC53E029C2D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38" y="2466"/>
                    <a:ext cx="192" cy="174"/>
                  </a:xfrm>
                  <a:prstGeom prst="ellipse">
                    <a:avLst/>
                  </a:prstGeom>
                  <a:solidFill>
                    <a:schemeClr val="bg1"/>
                  </a:solidFill>
                  <a:ln w="12700" algn="ctr">
                    <a:solidFill>
                      <a:schemeClr val="tx1"/>
                    </a:solidFill>
                    <a:round/>
                    <a:headEnd/>
                    <a:tailEnd type="none" w="lg" len="med"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en-GB"/>
                  </a:p>
                </p:txBody>
              </p:sp>
              <p:sp>
                <p:nvSpPr>
                  <p:cNvPr id="331811" name="Text Box 35">
                    <a:extLst>
                      <a:ext uri="{FF2B5EF4-FFF2-40B4-BE49-F238E27FC236}">
                        <a16:creationId xmlns:a16="http://schemas.microsoft.com/office/drawing/2014/main" id="{83332F68-7522-A4A8-7628-4CFF96CE906B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56" y="2502"/>
                    <a:ext cx="354" cy="11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76200" algn="ctr">
                        <a:solidFill>
                          <a:srgbClr val="CC2700"/>
                        </a:solidFill>
                        <a:miter lim="800000"/>
                        <a:headEnd/>
                        <a:tailEnd type="none" w="lg" len="med"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>
                    <a:spAutoFit/>
                  </a:bodyPr>
                  <a:lstStyle>
                    <a:lvl1pPr marL="342900" indent="-342900"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1pPr>
                    <a:lvl2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2pPr>
                    <a:lvl3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3pPr>
                    <a:lvl4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4pPr>
                    <a:lvl5pPr algn="l"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5pPr>
                    <a:lvl6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6pPr>
                    <a:lvl7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7pPr>
                    <a:lvl8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8pPr>
                    <a:lvl9pPr fontAlgn="base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</a:defRPr>
                    </a:lvl9pPr>
                  </a:lstStyle>
                  <a:p>
                    <a:pPr>
                      <a:lnSpc>
                        <a:spcPct val="90000"/>
                      </a:lnSpc>
                      <a:spcBef>
                        <a:spcPct val="50000"/>
                      </a:spcBef>
                    </a:pPr>
                    <a:r>
                      <a:rPr lang="en-US" altLang="en-US" sz="6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</a:t>
                    </a:r>
                    <a:endParaRPr lang="en-GB" altLang="en-US" sz="600" b="1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331812" name="Line 36">
                  <a:extLst>
                    <a:ext uri="{FF2B5EF4-FFF2-40B4-BE49-F238E27FC236}">
                      <a16:creationId xmlns:a16="http://schemas.microsoft.com/office/drawing/2014/main" id="{7127A2A9-FFFD-55FE-5613-26603CD416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52" y="2550"/>
                  <a:ext cx="90" cy="0"/>
                </a:xfrm>
                <a:prstGeom prst="line">
                  <a:avLst/>
                </a:prstGeom>
                <a:noFill/>
                <a:ln w="12700">
                  <a:solidFill>
                    <a:srgbClr val="CC2700"/>
                  </a:solidFill>
                  <a:prstDash val="sysDot"/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1813" name="Line 37">
                  <a:extLst>
                    <a:ext uri="{FF2B5EF4-FFF2-40B4-BE49-F238E27FC236}">
                      <a16:creationId xmlns:a16="http://schemas.microsoft.com/office/drawing/2014/main" id="{0405DBDD-1E84-90C5-FFBC-B83A0825C7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47" y="3167"/>
                  <a:ext cx="90" cy="0"/>
                </a:xfrm>
                <a:prstGeom prst="line">
                  <a:avLst/>
                </a:prstGeom>
                <a:noFill/>
                <a:ln w="12700">
                  <a:solidFill>
                    <a:srgbClr val="CC2700"/>
                  </a:solidFill>
                  <a:prstDash val="sysDot"/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331814" name="Line 38">
                  <a:extLst>
                    <a:ext uri="{FF2B5EF4-FFF2-40B4-BE49-F238E27FC236}">
                      <a16:creationId xmlns:a16="http://schemas.microsoft.com/office/drawing/2014/main" id="{15F51308-6A27-390D-816E-8073C201D7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6" y="2550"/>
                  <a:ext cx="0" cy="624"/>
                </a:xfrm>
                <a:prstGeom prst="line">
                  <a:avLst/>
                </a:prstGeom>
                <a:noFill/>
                <a:ln w="12700">
                  <a:solidFill>
                    <a:srgbClr val="CC2700"/>
                  </a:solidFill>
                  <a:prstDash val="sysDot"/>
                  <a:round/>
                  <a:headEnd/>
                  <a:tailEnd type="none" w="lg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sp>
            <p:nvSpPr>
              <p:cNvPr id="331815" name="Text Box 39">
                <a:extLst>
                  <a:ext uri="{FF2B5EF4-FFF2-40B4-BE49-F238E27FC236}">
                    <a16:creationId xmlns:a16="http://schemas.microsoft.com/office/drawing/2014/main" id="{FEF55FF8-8356-1D56-D164-7731024084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8" y="2064"/>
                <a:ext cx="960" cy="26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76200" algn="ctr">
                    <a:solidFill>
                      <a:srgbClr val="CC2700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lnSpc>
                    <a:spcPct val="90000"/>
                  </a:lnSpc>
                  <a:spcBef>
                    <a:spcPct val="50000"/>
                  </a:spcBef>
                </a:pPr>
                <a:r>
                  <a:rPr lang="en-US" altLang="en-US" sz="1200" b="1">
                    <a:latin typeface="Arial" panose="020B0604020202020204" pitchFamily="34" charset="0"/>
                    <a:cs typeface="Arial" panose="020B0604020202020204" pitchFamily="34" charset="0"/>
                  </a:rPr>
                  <a:t>Circuit-level gateway</a:t>
                </a:r>
                <a:endParaRPr lang="en-GB" altLang="en-US" sz="12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1816" name="Text Box 40">
                <a:extLst>
                  <a:ext uri="{FF2B5EF4-FFF2-40B4-BE49-F238E27FC236}">
                    <a16:creationId xmlns:a16="http://schemas.microsoft.com/office/drawing/2014/main" id="{CC05265C-03CD-7600-67A5-A9A6E056EA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59" y="3401"/>
                <a:ext cx="1260" cy="16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76200" algn="ctr">
                    <a:solidFill>
                      <a:srgbClr val="CC2700"/>
                    </a:solidFill>
                    <a:miter lim="800000"/>
                    <a:headEnd/>
                    <a:tailEnd type="none" w="lg" len="med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l">
                  <a:lnSpc>
                    <a:spcPct val="90000"/>
                  </a:lnSpc>
                  <a:spcBef>
                    <a:spcPct val="50000"/>
                  </a:spcBef>
                </a:pPr>
                <a:endParaRPr lang="en-US" altLang="en-US" sz="1200" b="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1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0BF6F6EA-5B03-F301-7537-75714065B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Host-based firewalls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2064F59B-8FED-69B4-1399-B26229AC1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Can be used on machines that are not part of a larger network (e.g., home machines)</a:t>
            </a:r>
          </a:p>
          <a:p>
            <a:r>
              <a:rPr lang="en-US" altLang="en-US"/>
              <a:t>Can also provide additional protection within a larger network</a:t>
            </a:r>
          </a:p>
          <a:p>
            <a:r>
              <a:rPr lang="en-US" altLang="en-US"/>
              <a:t>Filtering can be machine-specific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>
            <a:extLst>
              <a:ext uri="{FF2B5EF4-FFF2-40B4-BE49-F238E27FC236}">
                <a16:creationId xmlns:a16="http://schemas.microsoft.com/office/drawing/2014/main" id="{853F3BDE-C237-BEAF-E739-B84CDFDAE2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Multiple firewalls</a:t>
            </a:r>
          </a:p>
        </p:txBody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FF9B4045-F8FB-1450-E618-EDD98BF497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772400" cy="1295400"/>
          </a:xfrm>
        </p:spPr>
        <p:txBody>
          <a:bodyPr/>
          <a:lstStyle/>
          <a:p>
            <a:r>
              <a:rPr lang="en-US" altLang="en-US"/>
              <a:t>Can have multiple network firewalls, each providing different protection</a:t>
            </a:r>
          </a:p>
        </p:txBody>
      </p:sp>
      <p:sp>
        <p:nvSpPr>
          <p:cNvPr id="333828" name="Line 4">
            <a:extLst>
              <a:ext uri="{FF2B5EF4-FFF2-40B4-BE49-F238E27FC236}">
                <a16:creationId xmlns:a16="http://schemas.microsoft.com/office/drawing/2014/main" id="{D1309833-0344-4D0B-B1ED-8A4B28F33B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590800"/>
            <a:ext cx="0" cy="8382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3829" name="Rectangle 5">
            <a:extLst>
              <a:ext uri="{FF2B5EF4-FFF2-40B4-BE49-F238E27FC236}">
                <a16:creationId xmlns:a16="http://schemas.microsoft.com/office/drawing/2014/main" id="{955C0AA6-9ABA-D5B4-01B0-6F4E42F42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3429000"/>
            <a:ext cx="9144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830" name="Line 6">
            <a:extLst>
              <a:ext uri="{FF2B5EF4-FFF2-40B4-BE49-F238E27FC236}">
                <a16:creationId xmlns:a16="http://schemas.microsoft.com/office/drawing/2014/main" id="{DE3C1732-4C19-E929-3ACD-F06169479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3581400"/>
            <a:ext cx="0" cy="9144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3831" name="Rectangle 7">
            <a:extLst>
              <a:ext uri="{FF2B5EF4-FFF2-40B4-BE49-F238E27FC236}">
                <a16:creationId xmlns:a16="http://schemas.microsoft.com/office/drawing/2014/main" id="{02034744-8CEC-97FB-D905-3A747E5BE0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495800"/>
            <a:ext cx="9144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3832" name="Line 8">
            <a:extLst>
              <a:ext uri="{FF2B5EF4-FFF2-40B4-BE49-F238E27FC236}">
                <a16:creationId xmlns:a16="http://schemas.microsoft.com/office/drawing/2014/main" id="{DAAC653C-B2DF-D811-BF36-575A57EEAF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4000500"/>
            <a:ext cx="18288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3833" name="Rectangle 9">
            <a:extLst>
              <a:ext uri="{FF2B5EF4-FFF2-40B4-BE49-F238E27FC236}">
                <a16:creationId xmlns:a16="http://schemas.microsoft.com/office/drawing/2014/main" id="{BEDE8B56-8F81-CDC3-4D0C-A48D8F4E9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429000"/>
            <a:ext cx="1143000" cy="1143000"/>
          </a:xfrm>
          <a:prstGeom prst="rect">
            <a:avLst/>
          </a:prstGeom>
          <a:solidFill>
            <a:schemeClr val="accent1"/>
          </a:solidFill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web </a:t>
            </a:r>
          </a:p>
          <a:p>
            <a:r>
              <a:rPr lang="en-US" altLang="en-US"/>
              <a:t>server</a:t>
            </a:r>
          </a:p>
        </p:txBody>
      </p:sp>
      <p:sp>
        <p:nvSpPr>
          <p:cNvPr id="333834" name="Line 10">
            <a:extLst>
              <a:ext uri="{FF2B5EF4-FFF2-40B4-BE49-F238E27FC236}">
                <a16:creationId xmlns:a16="http://schemas.microsoft.com/office/drawing/2014/main" id="{E6779675-A44B-4CEC-C9E3-157CF0DF27B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4648200"/>
            <a:ext cx="0" cy="91440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3835" name="Rectangle 11">
            <a:extLst>
              <a:ext uri="{FF2B5EF4-FFF2-40B4-BE49-F238E27FC236}">
                <a16:creationId xmlns:a16="http://schemas.microsoft.com/office/drawing/2014/main" id="{4B9FE7AE-8DB3-D36B-1C01-0342DEF6C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5029200"/>
            <a:ext cx="1143000" cy="1143000"/>
          </a:xfrm>
          <a:prstGeom prst="rect">
            <a:avLst/>
          </a:prstGeom>
          <a:solidFill>
            <a:schemeClr val="accent1"/>
          </a:solidFill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en-US" altLang="en-US"/>
              <a:t>internal</a:t>
            </a:r>
          </a:p>
          <a:p>
            <a:r>
              <a:rPr lang="en-US" altLang="en-US"/>
              <a:t>network</a:t>
            </a:r>
          </a:p>
        </p:txBody>
      </p:sp>
      <p:sp>
        <p:nvSpPr>
          <p:cNvPr id="333836" name="Line 12">
            <a:extLst>
              <a:ext uri="{FF2B5EF4-FFF2-40B4-BE49-F238E27FC236}">
                <a16:creationId xmlns:a16="http://schemas.microsoft.com/office/drawing/2014/main" id="{6EB6CE2A-2589-4F2C-B21E-C14962F89E8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5562600"/>
            <a:ext cx="18288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3837" name="AutoShape 13">
            <a:extLst>
              <a:ext uri="{FF2B5EF4-FFF2-40B4-BE49-F238E27FC236}">
                <a16:creationId xmlns:a16="http://schemas.microsoft.com/office/drawing/2014/main" id="{F5F4C6F7-4AED-5C43-028D-43B7A066ECC6}"/>
              </a:ext>
            </a:extLst>
          </p:cNvPr>
          <p:cNvSpPr>
            <a:spLocks/>
          </p:cNvSpPr>
          <p:nvPr/>
        </p:nvSpPr>
        <p:spPr bwMode="auto">
          <a:xfrm>
            <a:off x="6477000" y="2476500"/>
            <a:ext cx="2057400" cy="2705100"/>
          </a:xfrm>
          <a:prstGeom prst="borderCallout2">
            <a:avLst>
              <a:gd name="adj1" fmla="val 4227"/>
              <a:gd name="adj2" fmla="val -3704"/>
              <a:gd name="adj3" fmla="val 4227"/>
              <a:gd name="adj4" fmla="val -24074"/>
              <a:gd name="adj5" fmla="val 73472"/>
              <a:gd name="adj6" fmla="val -45218"/>
            </a:avLst>
          </a:prstGeom>
          <a:noFill/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l">
              <a:buFontTx/>
              <a:buChar char="•"/>
            </a:pPr>
            <a:r>
              <a:rPr lang="en-US" altLang="en-US"/>
              <a:t>Use stricter</a:t>
            </a:r>
            <a:br>
              <a:rPr lang="en-US" altLang="en-US"/>
            </a:br>
            <a:r>
              <a:rPr lang="en-US" altLang="en-US"/>
              <a:t>  filtering rules</a:t>
            </a:r>
          </a:p>
          <a:p>
            <a:pPr algn="l">
              <a:buFontTx/>
              <a:buChar char="•"/>
            </a:pPr>
            <a:endParaRPr lang="en-US" altLang="en-US"/>
          </a:p>
          <a:p>
            <a:pPr algn="l">
              <a:buFontTx/>
              <a:buChar char="•"/>
            </a:pPr>
            <a:r>
              <a:rPr lang="en-US" altLang="en-US"/>
              <a:t>Protect web</a:t>
            </a:r>
            <a:br>
              <a:rPr lang="en-US" altLang="en-US"/>
            </a:br>
            <a:r>
              <a:rPr lang="en-US" altLang="en-US"/>
              <a:t>  server and</a:t>
            </a:r>
            <a:br>
              <a:rPr lang="en-US" altLang="en-US"/>
            </a:br>
            <a:r>
              <a:rPr lang="en-US" altLang="en-US"/>
              <a:t>  network from</a:t>
            </a:r>
            <a:br>
              <a:rPr lang="en-US" altLang="en-US"/>
            </a:br>
            <a:r>
              <a:rPr lang="en-US" altLang="en-US"/>
              <a:t>  each other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3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38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A4A57F1D-1B8D-9D12-F898-3751E5FAD8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VPNs and IPSec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026ACC3B-EDEA-69B1-B1D4-7ACE9E175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772400" cy="2819400"/>
          </a:xfrm>
        </p:spPr>
        <p:txBody>
          <a:bodyPr/>
          <a:lstStyle/>
          <a:p>
            <a:r>
              <a:rPr lang="en-US" altLang="en-US"/>
              <a:t>Can use a firewall to allow for encrypted and authenticated communication across the Internet</a:t>
            </a:r>
          </a:p>
          <a:p>
            <a:pPr lvl="1"/>
            <a:r>
              <a:rPr lang="en-US" altLang="en-US"/>
              <a:t>If done behind the firewall, the firewall cannot analyze packets</a:t>
            </a:r>
          </a:p>
          <a:p>
            <a:r>
              <a:rPr lang="en-US" altLang="en-US"/>
              <a:t>Used in conjunction with IPSec, which does encryption/authentication at the IP layer</a:t>
            </a:r>
          </a:p>
        </p:txBody>
      </p:sp>
      <p:sp>
        <p:nvSpPr>
          <p:cNvPr id="334852" name="Rectangle 4">
            <a:extLst>
              <a:ext uri="{FF2B5EF4-FFF2-40B4-BE49-F238E27FC236}">
                <a16:creationId xmlns:a16="http://schemas.microsoft.com/office/drawing/2014/main" id="{0DCC6869-56E7-6A70-74D9-A86C087C6A7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3200400" y="5486400"/>
            <a:ext cx="9144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 altLang="en-US"/>
          </a:p>
        </p:txBody>
      </p:sp>
      <p:sp>
        <p:nvSpPr>
          <p:cNvPr id="334853" name="Line 5">
            <a:extLst>
              <a:ext uri="{FF2B5EF4-FFF2-40B4-BE49-F238E27FC236}">
                <a16:creationId xmlns:a16="http://schemas.microsoft.com/office/drawing/2014/main" id="{E967C8A0-5C6D-665C-8EF5-DD1B15AA1D5B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5562600"/>
            <a:ext cx="1905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4854" name="Text Box 6">
            <a:extLst>
              <a:ext uri="{FF2B5EF4-FFF2-40B4-BE49-F238E27FC236}">
                <a16:creationId xmlns:a16="http://schemas.microsoft.com/office/drawing/2014/main" id="{56258287-6322-2291-699F-BFE6850D31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1625" y="5029200"/>
            <a:ext cx="200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sq" algn="ctr">
                <a:solidFill>
                  <a:schemeClr val="tx1"/>
                </a:solidFill>
                <a:miter lim="800000"/>
                <a:headEnd type="none" w="lg" len="med"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plain IP packet</a:t>
            </a:r>
          </a:p>
        </p:txBody>
      </p:sp>
      <p:sp>
        <p:nvSpPr>
          <p:cNvPr id="334855" name="Line 7">
            <a:extLst>
              <a:ext uri="{FF2B5EF4-FFF2-40B4-BE49-F238E27FC236}">
                <a16:creationId xmlns:a16="http://schemas.microsoft.com/office/drawing/2014/main" id="{E7A6CD67-97F8-2ED1-AE69-A45D62536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5562600"/>
            <a:ext cx="28194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4856" name="AutoShape 8">
            <a:extLst>
              <a:ext uri="{FF2B5EF4-FFF2-40B4-BE49-F238E27FC236}">
                <a16:creationId xmlns:a16="http://schemas.microsoft.com/office/drawing/2014/main" id="{8157FB8A-A0FC-E052-4393-B32D8984D1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5105400"/>
            <a:ext cx="1752600" cy="838200"/>
          </a:xfrm>
          <a:prstGeom prst="cloudCallout">
            <a:avLst>
              <a:gd name="adj1" fmla="val -24819"/>
              <a:gd name="adj2" fmla="val 23106"/>
            </a:avLst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none" w="lg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4857" name="Rectangle 9">
            <a:extLst>
              <a:ext uri="{FF2B5EF4-FFF2-40B4-BE49-F238E27FC236}">
                <a16:creationId xmlns:a16="http://schemas.microsoft.com/office/drawing/2014/main" id="{BF2EF52C-62C4-6D33-313C-4900B4BEE19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172200" y="5486400"/>
            <a:ext cx="914400" cy="152400"/>
          </a:xfrm>
          <a:prstGeom prst="rect">
            <a:avLst/>
          </a:prstGeom>
          <a:blipFill dpi="0" rotWithShape="0">
            <a:blip r:embed="rId2"/>
            <a:srcRect/>
            <a:tile tx="0" ty="0" sx="100000" sy="100000" flip="none" algn="tl"/>
          </a:blipFill>
          <a:ln w="25400" cap="sq" algn="ctr">
            <a:solidFill>
              <a:schemeClr val="tx1"/>
            </a:solidFill>
            <a:miter lim="800000"/>
            <a:headEnd type="none" w="lg" len="med"/>
            <a:tailEnd type="none" w="lg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en-US" altLang="en-US"/>
          </a:p>
        </p:txBody>
      </p:sp>
      <p:sp>
        <p:nvSpPr>
          <p:cNvPr id="334858" name="Text Box 10">
            <a:extLst>
              <a:ext uri="{FF2B5EF4-FFF2-40B4-BE49-F238E27FC236}">
                <a16:creationId xmlns:a16="http://schemas.microsoft.com/office/drawing/2014/main" id="{C8FAC794-9CFD-B8C7-487D-A86B2D4BF8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724400"/>
            <a:ext cx="21796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sq" algn="ctr">
                <a:solidFill>
                  <a:schemeClr val="tx1"/>
                </a:solidFill>
                <a:miter lim="800000"/>
                <a:headEnd type="none" w="lg" len="med"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secure IP packet</a:t>
            </a:r>
          </a:p>
        </p:txBody>
      </p:sp>
      <p:sp>
        <p:nvSpPr>
          <p:cNvPr id="334859" name="Line 11">
            <a:extLst>
              <a:ext uri="{FF2B5EF4-FFF2-40B4-BE49-F238E27FC236}">
                <a16:creationId xmlns:a16="http://schemas.microsoft.com/office/drawing/2014/main" id="{9B82F872-EB26-DA22-AB32-BA36738E4B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34175" y="5562600"/>
            <a:ext cx="1905000" cy="0"/>
          </a:xfrm>
          <a:prstGeom prst="line">
            <a:avLst/>
          </a:prstGeom>
          <a:noFill/>
          <a:ln w="25400" cap="sq">
            <a:solidFill>
              <a:schemeClr val="tx1"/>
            </a:solidFill>
            <a:round/>
            <a:headEnd type="none" w="lg" len="med"/>
            <a:tailEnd type="triangle" w="lg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GB"/>
          </a:p>
        </p:txBody>
      </p:sp>
      <p:sp>
        <p:nvSpPr>
          <p:cNvPr id="334860" name="Text Box 12">
            <a:extLst>
              <a:ext uri="{FF2B5EF4-FFF2-40B4-BE49-F238E27FC236}">
                <a16:creationId xmlns:a16="http://schemas.microsoft.com/office/drawing/2014/main" id="{625644AD-9FA8-E4C4-574B-4CE8841C8D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77025" y="5029200"/>
            <a:ext cx="2009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sq" algn="ctr">
                <a:solidFill>
                  <a:schemeClr val="tx1"/>
                </a:solidFill>
                <a:miter lim="800000"/>
                <a:headEnd type="none" w="lg" len="med"/>
                <a:tailEnd type="none" w="lg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plain IP packet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ock And Key">
  <a:themeElements>
    <a:clrScheme name="Lock And Key 1">
      <a:dk1>
        <a:srgbClr val="200B5B"/>
      </a:dk1>
      <a:lt1>
        <a:srgbClr val="EAEAEA"/>
      </a:lt1>
      <a:dk2>
        <a:srgbClr val="6600FF"/>
      </a:dk2>
      <a:lt2>
        <a:srgbClr val="FFCC66"/>
      </a:lt2>
      <a:accent1>
        <a:srgbClr val="EEB00B"/>
      </a:accent1>
      <a:accent2>
        <a:srgbClr val="6600CC"/>
      </a:accent2>
      <a:accent3>
        <a:srgbClr val="B8AAFF"/>
      </a:accent3>
      <a:accent4>
        <a:srgbClr val="C8C8C8"/>
      </a:accent4>
      <a:accent5>
        <a:srgbClr val="F5D4AA"/>
      </a:accent5>
      <a:accent6>
        <a:srgbClr val="5C00B9"/>
      </a:accent6>
      <a:hlink>
        <a:srgbClr val="FF33CC"/>
      </a:hlink>
      <a:folHlink>
        <a:srgbClr val="CC99FF"/>
      </a:folHlink>
    </a:clrScheme>
    <a:fontScheme name="Lock And Key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sq" cmpd="sng" algn="ctr">
          <a:solidFill>
            <a:schemeClr val="tx1"/>
          </a:solidFill>
          <a:prstDash val="solid"/>
          <a:round/>
          <a:headEnd type="triangle" w="lg" len="med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sq" cmpd="sng" algn="ctr">
          <a:solidFill>
            <a:schemeClr val="tx1"/>
          </a:solidFill>
          <a:prstDash val="solid"/>
          <a:round/>
          <a:headEnd type="triangle" w="lg" len="med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Lock And Key 1">
        <a:dk1>
          <a:srgbClr val="200B5B"/>
        </a:dk1>
        <a:lt1>
          <a:srgbClr val="EAEAEA"/>
        </a:lt1>
        <a:dk2>
          <a:srgbClr val="6600FF"/>
        </a:dk2>
        <a:lt2>
          <a:srgbClr val="FFCC66"/>
        </a:lt2>
        <a:accent1>
          <a:srgbClr val="EEB00B"/>
        </a:accent1>
        <a:accent2>
          <a:srgbClr val="6600CC"/>
        </a:accent2>
        <a:accent3>
          <a:srgbClr val="B8AAFF"/>
        </a:accent3>
        <a:accent4>
          <a:srgbClr val="C8C8C8"/>
        </a:accent4>
        <a:accent5>
          <a:srgbClr val="F5D4AA"/>
        </a:accent5>
        <a:accent6>
          <a:srgbClr val="5C00B9"/>
        </a:accent6>
        <a:hlink>
          <a:srgbClr val="FF33CC"/>
        </a:hlink>
        <a:folHlink>
          <a:srgbClr val="CC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ck And Key 2">
        <a:dk1>
          <a:srgbClr val="393939"/>
        </a:dk1>
        <a:lt1>
          <a:srgbClr val="FFFFFF"/>
        </a:lt1>
        <a:dk2>
          <a:srgbClr val="6600CC"/>
        </a:dk2>
        <a:lt2>
          <a:srgbClr val="CCCCFF"/>
        </a:lt2>
        <a:accent1>
          <a:srgbClr val="F9D87E"/>
        </a:accent1>
        <a:accent2>
          <a:srgbClr val="FFCCCC"/>
        </a:accent2>
        <a:accent3>
          <a:srgbClr val="FFFFFF"/>
        </a:accent3>
        <a:accent4>
          <a:srgbClr val="2F2F2F"/>
        </a:accent4>
        <a:accent5>
          <a:srgbClr val="FBE9C0"/>
        </a:accent5>
        <a:accent6>
          <a:srgbClr val="E7B9B9"/>
        </a:accent6>
        <a:hlink>
          <a:srgbClr val="FFCC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ock And Key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555555"/>
        </a:accent6>
        <a:hlink>
          <a:srgbClr val="969696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ock And Key 4">
        <a:dk1>
          <a:srgbClr val="330000"/>
        </a:dk1>
        <a:lt1>
          <a:srgbClr val="FFFFCC"/>
        </a:lt1>
        <a:dk2>
          <a:srgbClr val="000000"/>
        </a:dk2>
        <a:lt2>
          <a:srgbClr val="FFCC00"/>
        </a:lt2>
        <a:accent1>
          <a:srgbClr val="FF9900"/>
        </a:accent1>
        <a:accent2>
          <a:srgbClr val="330099"/>
        </a:accent2>
        <a:accent3>
          <a:srgbClr val="AAAAAA"/>
        </a:accent3>
        <a:accent4>
          <a:srgbClr val="DADAAE"/>
        </a:accent4>
        <a:accent5>
          <a:srgbClr val="FFCAAA"/>
        </a:accent5>
        <a:accent6>
          <a:srgbClr val="2D008A"/>
        </a:accent6>
        <a:hlink>
          <a:srgbClr val="FF6633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ck And Key 5">
        <a:dk1>
          <a:srgbClr val="333300"/>
        </a:dk1>
        <a:lt1>
          <a:srgbClr val="DDDDDD"/>
        </a:lt1>
        <a:dk2>
          <a:srgbClr val="996600"/>
        </a:dk2>
        <a:lt2>
          <a:srgbClr val="FFCC66"/>
        </a:lt2>
        <a:accent1>
          <a:srgbClr val="EEB00B"/>
        </a:accent1>
        <a:accent2>
          <a:srgbClr val="330099"/>
        </a:accent2>
        <a:accent3>
          <a:srgbClr val="CAB8AA"/>
        </a:accent3>
        <a:accent4>
          <a:srgbClr val="BDBDBD"/>
        </a:accent4>
        <a:accent5>
          <a:srgbClr val="F5D4AA"/>
        </a:accent5>
        <a:accent6>
          <a:srgbClr val="2D008A"/>
        </a:accent6>
        <a:hlink>
          <a:srgbClr val="FF6633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ock And Key 6">
        <a:dk1>
          <a:srgbClr val="003300"/>
        </a:dk1>
        <a:lt1>
          <a:srgbClr val="FFFFCC"/>
        </a:lt1>
        <a:dk2>
          <a:srgbClr val="999933"/>
        </a:dk2>
        <a:lt2>
          <a:srgbClr val="FFFF66"/>
        </a:lt2>
        <a:accent1>
          <a:srgbClr val="CC9900"/>
        </a:accent1>
        <a:accent2>
          <a:srgbClr val="330099"/>
        </a:accent2>
        <a:accent3>
          <a:srgbClr val="CACAAD"/>
        </a:accent3>
        <a:accent4>
          <a:srgbClr val="DADAAE"/>
        </a:accent4>
        <a:accent5>
          <a:srgbClr val="E2CAAA"/>
        </a:accent5>
        <a:accent6>
          <a:srgbClr val="2D008A"/>
        </a:accent6>
        <a:hlink>
          <a:srgbClr val="FF9900"/>
        </a:hlink>
        <a:folHlink>
          <a:srgbClr val="FF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30EDD0F8EC9745A4F8E9789A86D3D8" ma:contentTypeVersion="3" ma:contentTypeDescription="Create a new document." ma:contentTypeScope="" ma:versionID="c5dcf0e65b09502e7e7a2955a92ac026">
  <xsd:schema xmlns:xsd="http://www.w3.org/2001/XMLSchema" xmlns:xs="http://www.w3.org/2001/XMLSchema" xmlns:p="http://schemas.microsoft.com/office/2006/metadata/properties" xmlns:ns2="58e49a15-ee46-4812-a9dc-1828e7c0061e" targetNamespace="http://schemas.microsoft.com/office/2006/metadata/properties" ma:root="true" ma:fieldsID="5cbac4acb39b9841d740609236632a2b" ns2:_="">
    <xsd:import namespace="58e49a15-ee46-4812-a9dc-1828e7c0061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8e49a15-ee46-4812-a9dc-1828e7c0061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A120A4-CAB6-4486-AB3E-3A4A92AFDA78}"/>
</file>

<file path=customXml/itemProps2.xml><?xml version="1.0" encoding="utf-8"?>
<ds:datastoreItem xmlns:ds="http://schemas.openxmlformats.org/officeDocument/2006/customXml" ds:itemID="{95B79F86-439B-4AF4-B270-5BAA902D90CC}"/>
</file>

<file path=customXml/itemProps3.xml><?xml version="1.0" encoding="utf-8"?>
<ds:datastoreItem xmlns:ds="http://schemas.openxmlformats.org/officeDocument/2006/customXml" ds:itemID="{82888B56-0622-47A6-B3AE-14C1CB6F5C1F}"/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Designs\Lock And Key.pot</Template>
  <TotalTime>3565</TotalTime>
  <Words>1709</Words>
  <Application>Microsoft Macintosh PowerPoint</Application>
  <PresentationFormat>On-screen Show (4:3)</PresentationFormat>
  <Paragraphs>255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Times New Roman</vt:lpstr>
      <vt:lpstr>Symbol</vt:lpstr>
      <vt:lpstr>Arial</vt:lpstr>
      <vt:lpstr>Lock And Key</vt:lpstr>
      <vt:lpstr>PowerPoint Presentation</vt:lpstr>
      <vt:lpstr>Prevention vs. detection</vt:lpstr>
      <vt:lpstr>IDS overview</vt:lpstr>
      <vt:lpstr>IDS tradeoff</vt:lpstr>
      <vt:lpstr>False positives/negatives</vt:lpstr>
      <vt:lpstr>PowerPoint Presentation</vt:lpstr>
      <vt:lpstr>False alarms?</vt:lpstr>
      <vt:lpstr>False alarms</vt:lpstr>
      <vt:lpstr>Host-based IDS</vt:lpstr>
      <vt:lpstr>Anomaly detection</vt:lpstr>
      <vt:lpstr>Anomaly detection</vt:lpstr>
      <vt:lpstr>PowerPoint Presentation</vt:lpstr>
      <vt:lpstr>Signature (rule-based) detection</vt:lpstr>
      <vt:lpstr>Example rules</vt:lpstr>
      <vt:lpstr>Distributed host-based IDS</vt:lpstr>
      <vt:lpstr>Network-based IDS</vt:lpstr>
      <vt:lpstr>Sensor types</vt:lpstr>
      <vt:lpstr>Sensor placement</vt:lpstr>
      <vt:lpstr>Honeypots</vt:lpstr>
      <vt:lpstr>Honeypot placement</vt:lpstr>
      <vt:lpstr>PowerPoint Presentation</vt:lpstr>
      <vt:lpstr>Firewalls: overview</vt:lpstr>
      <vt:lpstr>Firewalls: overview</vt:lpstr>
      <vt:lpstr>Firewalls: overview</vt:lpstr>
      <vt:lpstr>Need for firewalls?</vt:lpstr>
      <vt:lpstr>Packet filtering</vt:lpstr>
      <vt:lpstr>Disadvantages of packet filtering</vt:lpstr>
      <vt:lpstr>Stateful firewalls</vt:lpstr>
      <vt:lpstr>Application-level gateways</vt:lpstr>
      <vt:lpstr>Application-level gateways</vt:lpstr>
      <vt:lpstr>Circuit-level gateways</vt:lpstr>
      <vt:lpstr>Host-based firewalls</vt:lpstr>
      <vt:lpstr>Multiple firewalls</vt:lpstr>
      <vt:lpstr>VPNs and IPSec</vt:lpstr>
    </vt:vector>
  </TitlesOfParts>
  <Company>UMD-CSD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414 Computer (and Network) Security</dc:title>
  <dc:creator>jkatz</dc:creator>
  <cp:lastModifiedBy>Pritika Saran</cp:lastModifiedBy>
  <cp:revision>759</cp:revision>
  <cp:lastPrinted>1601-01-01T00:00:00Z</cp:lastPrinted>
  <dcterms:created xsi:type="dcterms:W3CDTF">2003-08-24T23:33:06Z</dcterms:created>
  <dcterms:modified xsi:type="dcterms:W3CDTF">2026-03-10T02:19:35Z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0x010100E130EDD0F8EC9745A4F8E9789A86D3D8</vt:lpwstr>
  </property>
</Properties>
</file>