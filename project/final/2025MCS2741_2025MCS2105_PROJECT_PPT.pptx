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7C9C2C-B127-4514-816B-769D6D63ADE0}">
  <a:tblStyle styleId="{D57C9C2C-B127-4514-816B-769D6D63ADE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slide" Target="slides/slide18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05cfa81d9_2_1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e05cfa81d9_2_10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5cfa81d9_2_28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e05cfa81d9_2_28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05cfa81d9_2_53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05cfa81d9_2_53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05cfa81d9_2_8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05cfa81d9_2_85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05cfa81d9_2_119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05cfa81d9_2_119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5cfa81d9_2_138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05cfa81d9_2_138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05cfa81d9_2_148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05cfa81d9_2_148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05cfa81d9_2_18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05cfa81d9_2_181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37dff73b_0_39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e637dff73b_0_39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05cfa81d9_2_211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05cfa81d9_2_211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05cfa81d9_2_236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e05cfa81d9_2_236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05cfa81d9_2_285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05cfa81d9_2_285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05cfa81d9_2_328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e05cfa81d9_2_328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05cfa81d9_2_373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e05cfa81d9_2_373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05cfa81d9_2_397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e05cfa81d9_2_397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e05cfa81d9_2_420:notes"/>
          <p:cNvSpPr txBox="1"/>
          <p:nvPr>
            <p:ph idx="1" type="body"/>
          </p:nvPr>
        </p:nvSpPr>
        <p:spPr>
          <a:xfrm>
            <a:off x="685784" y="4343396"/>
            <a:ext cx="5486386" cy="4114791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e05cfa81d9_2_420:notes"/>
          <p:cNvSpPr/>
          <p:nvPr>
            <p:ph idx="2" type="sldImg"/>
          </p:nvPr>
        </p:nvSpPr>
        <p:spPr>
          <a:xfrm>
            <a:off x="1143208" y="685791"/>
            <a:ext cx="457221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637dff73b_0_10:notes"/>
          <p:cNvSpPr txBox="1"/>
          <p:nvPr>
            <p:ph idx="1" type="body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anchorCtr="0" anchor="t" bIns="81350" lIns="81350" spcFirstLastPara="1" rIns="81350" wrap="square" tIns="81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e637dff73b_0_10:notes"/>
          <p:cNvSpPr/>
          <p:nvPr>
            <p:ph idx="2" type="sldImg"/>
          </p:nvPr>
        </p:nvSpPr>
        <p:spPr>
          <a:xfrm>
            <a:off x="1143208" y="685791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e637dff73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e637dff73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2343060" y="4767390"/>
            <a:ext cx="217134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4914810" y="4767390"/>
            <a:ext cx="16000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sz="900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342900" y="4767390"/>
            <a:ext cx="16000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342900" y="4767390"/>
            <a:ext cx="16000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2343060" y="4767390"/>
            <a:ext cx="217134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914810" y="4767390"/>
            <a:ext cx="1600020" cy="273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3"/>
          <p:cNvSpPr txBox="1"/>
          <p:nvPr>
            <p:ph type="title"/>
          </p:nvPr>
        </p:nvSpPr>
        <p:spPr>
          <a:xfrm>
            <a:off x="457110" y="205200"/>
            <a:ext cx="822906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110" y="1203390"/>
            <a:ext cx="822906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capstone-engine.org/" TargetMode="External"/><Relationship Id="rId4" Type="http://schemas.openxmlformats.org/officeDocument/2006/relationships/hyperlink" Target="https://sourceware.org/bzip2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617220" y="822960"/>
            <a:ext cx="82293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SIL765 / SIL7165 · NETWORKS &amp; SYSTEM SECURITY · END-TERM PROJECT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617220" y="1165860"/>
            <a:ext cx="8229330" cy="503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3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Beyond the Binary Barrier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617220" y="1885950"/>
            <a:ext cx="822933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Extending RetroWrite with memcpy-safe sanitisation,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617220" y="2160270"/>
            <a:ext cx="822933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standalone coverage, and native function tracing.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617220" y="2914650"/>
            <a:ext cx="68553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617220" y="3051810"/>
            <a:ext cx="3428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17220" y="3257550"/>
            <a:ext cx="411453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Chirag Suthar  ·  2025MCS2105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617220" y="3497580"/>
            <a:ext cx="411453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Haleel Sada   ·  2025MCS2741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5143500" y="3051810"/>
            <a:ext cx="3428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REFERENCE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5143500" y="3257550"/>
            <a:ext cx="377163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Dinesh et al., RetroWrite,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143500" y="3497580"/>
            <a:ext cx="377163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IEEE S&amp;P 2020.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617220" y="4491990"/>
            <a:ext cx="82293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Instructor  ·  Prof. </a:t>
            </a:r>
            <a:r>
              <a:rPr lang="en" sz="12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Huzur Saran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17220" y="4732020"/>
            <a:ext cx="82293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Most bugs are memory bugs.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80060" y="1440180"/>
            <a:ext cx="3428730" cy="182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1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480060" y="3017520"/>
            <a:ext cx="3428730" cy="20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of CVEs are memory-safety issues.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80060" y="3360420"/>
            <a:ext cx="34287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\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389120" y="1440180"/>
            <a:ext cx="274050" cy="274050"/>
          </a:xfrm>
          <a:prstGeom prst="ellipse">
            <a:avLst/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4389120" y="1522530"/>
            <a:ext cx="27405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937760" y="1474470"/>
            <a:ext cx="370305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Closed-Source Targets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937760" y="1783080"/>
            <a:ext cx="370305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Browsers, firmware, games ship as stripped ELF / PE binaries — no source to instrument.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389120" y="2331720"/>
            <a:ext cx="274050" cy="274050"/>
          </a:xfrm>
          <a:prstGeom prst="ellipse">
            <a:avLst/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4389120" y="2414070"/>
            <a:ext cx="27405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4937760" y="2366010"/>
            <a:ext cx="370305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Dynamic Tools are Too Slow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937760" y="2674620"/>
            <a:ext cx="370305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QEMU 10–100× overhead, Valgrind up to 300× — unusable for real fuzzing.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389120" y="3223260"/>
            <a:ext cx="274050" cy="274050"/>
          </a:xfrm>
          <a:prstGeom prst="ellipse">
            <a:avLst/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4389120" y="3305610"/>
            <a:ext cx="27405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4937760" y="3257550"/>
            <a:ext cx="3703050" cy="22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Static Rewriters Guess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4937760" y="3566160"/>
            <a:ext cx="370305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Uroboros, ramblr rely on heuristics that break on real binaries — reassembled code crashes.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80060" y="4114800"/>
            <a:ext cx="8160750" cy="54837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80060" y="4285710"/>
            <a:ext cx="8160750" cy="20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close three gaps in RetroWrite — memcpy sanitisation, x64 coverage, and a native tracer.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The classical trilemma.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17"/>
          <p:cNvCxnSpPr/>
          <p:nvPr/>
        </p:nvCxnSpPr>
        <p:spPr>
          <a:xfrm>
            <a:off x="685800" y="3977640"/>
            <a:ext cx="4457970" cy="27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17"/>
          <p:cNvCxnSpPr/>
          <p:nvPr/>
        </p:nvCxnSpPr>
        <p:spPr>
          <a:xfrm flipH="1" rot="10800000">
            <a:off x="685800" y="1508760"/>
            <a:ext cx="270" cy="246915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p17"/>
          <p:cNvSpPr/>
          <p:nvPr/>
        </p:nvSpPr>
        <p:spPr>
          <a:xfrm>
            <a:off x="2225689" y="4034605"/>
            <a:ext cx="1378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Speed 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 rot="-5401367">
            <a:off x="-210692" y="2341312"/>
            <a:ext cx="15084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Soundness →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1227690" y="1776330"/>
            <a:ext cx="150660" cy="15066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1440180" y="1645920"/>
            <a:ext cx="20571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Valgrind / QEMU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1440180" y="1824120"/>
            <a:ext cx="20571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sound · slow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1844910" y="2324970"/>
            <a:ext cx="150660" cy="150660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2057400" y="2194560"/>
            <a:ext cx="20571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Intel Pin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2057400" y="2372760"/>
            <a:ext cx="20571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sound · 2–5×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3902310" y="3353670"/>
            <a:ext cx="150660" cy="150660"/>
          </a:xfrm>
          <a:prstGeom prst="ellipse">
            <a:avLst/>
          </a:prstGeom>
          <a:solidFill>
            <a:srgbClr val="F39C1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4114800" y="3223260"/>
            <a:ext cx="20571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Uroboros / ramblr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4114800" y="3401460"/>
            <a:ext cx="20571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fast · heuristic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4245210" y="1776330"/>
            <a:ext cx="150660" cy="150660"/>
          </a:xfrm>
          <a:prstGeom prst="ellipse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429000" y="1783350"/>
            <a:ext cx="20571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RetroWrite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429000" y="1995570"/>
            <a:ext cx="20571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sound + fast + src-free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656690" y="1502010"/>
            <a:ext cx="150660" cy="150660"/>
          </a:xfrm>
          <a:prstGeom prst="ellipse">
            <a:avLst/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286520" y="1028700"/>
            <a:ext cx="20571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Ours (RW + E1/2/3)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4286520" y="1200150"/>
            <a:ext cx="20571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extends RetroWrite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60720" y="1508760"/>
            <a:ext cx="2880000" cy="274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5966460" y="1714500"/>
            <a:ext cx="246861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THE INSIGHT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5966460" y="1988820"/>
            <a:ext cx="2468610" cy="61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Relocations in PIE ELFs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label which bytes are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addresses — exactly.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966460" y="2866580"/>
            <a:ext cx="24687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guessing. Fast and sound at once. Our passes inherit this guarantee.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Full citations on the References slides.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BACKGROUND · PIPELINE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How binary rewriting works.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8006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480060" y="2113560"/>
            <a:ext cx="1295190" cy="23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ELF Binary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18"/>
          <p:cNvCxnSpPr/>
          <p:nvPr/>
        </p:nvCxnSpPr>
        <p:spPr>
          <a:xfrm>
            <a:off x="1775250" y="2228850"/>
            <a:ext cx="82620" cy="27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" name="Google Shape;146;p18"/>
          <p:cNvSpPr/>
          <p:nvPr/>
        </p:nvSpPr>
        <p:spPr>
          <a:xfrm>
            <a:off x="185760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1857600" y="2052270"/>
            <a:ext cx="1295190" cy="352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sections · relocs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8"/>
          <p:cNvCxnSpPr/>
          <p:nvPr/>
        </p:nvCxnSpPr>
        <p:spPr>
          <a:xfrm>
            <a:off x="3153060" y="2228850"/>
            <a:ext cx="82350" cy="27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18"/>
          <p:cNvSpPr/>
          <p:nvPr/>
        </p:nvSpPr>
        <p:spPr>
          <a:xfrm>
            <a:off x="323541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235410" y="2052270"/>
            <a:ext cx="1295190" cy="352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Disassemble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>
            <a:off x="4530600" y="2228850"/>
            <a:ext cx="82620" cy="27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18"/>
          <p:cNvSpPr/>
          <p:nvPr/>
        </p:nvSpPr>
        <p:spPr>
          <a:xfrm>
            <a:off x="461295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612950" y="2052270"/>
            <a:ext cx="1295190" cy="352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Symbolise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reloc-guided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8"/>
          <p:cNvCxnSpPr/>
          <p:nvPr/>
        </p:nvCxnSpPr>
        <p:spPr>
          <a:xfrm>
            <a:off x="5908140" y="2228850"/>
            <a:ext cx="82620" cy="27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5" name="Google Shape;155;p18"/>
          <p:cNvSpPr/>
          <p:nvPr/>
        </p:nvSpPr>
        <p:spPr>
          <a:xfrm>
            <a:off x="599076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990760" y="2052270"/>
            <a:ext cx="1295190" cy="352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 Instrument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ASan · AFL · ours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8"/>
          <p:cNvCxnSpPr/>
          <p:nvPr/>
        </p:nvCxnSpPr>
        <p:spPr>
          <a:xfrm>
            <a:off x="7285950" y="2228850"/>
            <a:ext cx="82620" cy="27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18"/>
          <p:cNvSpPr/>
          <p:nvPr/>
        </p:nvSpPr>
        <p:spPr>
          <a:xfrm>
            <a:off x="7368300" y="1851660"/>
            <a:ext cx="1295190" cy="75411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368300" y="2052270"/>
            <a:ext cx="1295190" cy="352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Hardened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reassembled ELF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4231980" y="2674620"/>
            <a:ext cx="20571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where soundness lives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480060" y="3291840"/>
            <a:ext cx="3988710" cy="130275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651510" y="3429000"/>
            <a:ext cx="364581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PRIOR STATIC REWRITERS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51510" y="3669030"/>
            <a:ext cx="36458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Guess: is 0x401050 an address or a constant?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651510" y="3977640"/>
            <a:ext cx="364581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Heuristics break on real ELFs — reassembled binaries crash.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674780" y="3291840"/>
            <a:ext cx="3988710" cy="130275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846230" y="3429000"/>
            <a:ext cx="364581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RETROWRITE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4846230" y="3669030"/>
            <a:ext cx="36458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.rela.dyn is a ground-truth oracle.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4846230" y="3977640"/>
            <a:ext cx="364581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Every address-valued immediate is labelled — symbolisation is exact.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BACKGROUND · TOOLS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ASan and AFL, in a sentence.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480060" y="1508760"/>
            <a:ext cx="4045950" cy="301725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20090" y="1748790"/>
            <a:ext cx="356589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ADDRESS SANITIZER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20090" y="2057400"/>
            <a:ext cx="356589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Shadow memory catches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20090" y="2400300"/>
            <a:ext cx="356589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out-of-bounds and use-after-free.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720090" y="3086100"/>
            <a:ext cx="3565890" cy="52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One shadow byte per 8 application bytes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Every load/store calls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asan_load1/4/8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Red-zones around heap and stack allocations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4800600" y="1508760"/>
            <a:ext cx="4045950" cy="301725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040630" y="1748790"/>
            <a:ext cx="356589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AMERICAN FUZZY LOP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040630" y="2057400"/>
            <a:ext cx="356589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Edge-hash coverage guides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040630" y="2400300"/>
            <a:ext cx="356589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input mutation.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040630" y="3086100"/>
            <a:ext cx="3565890" cy="52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64 KiB bitmap indexed by cur ⊕ prev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Small stub at every basic-block entry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New bitmap bit = new test case saved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80060" y="4663440"/>
            <a:ext cx="822933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Both normally need source. RetroWrite brings them to stripped binaries.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LANDSCAPE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Related work.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0"/>
          <p:cNvGraphicFramePr/>
          <p:nvPr/>
        </p:nvGraphicFramePr>
        <p:xfrm>
          <a:off x="48006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{D57C9C2C-B127-4514-816B-769D6D63ADE0}</a:tableStyleId>
              </a:tblPr>
              <a:tblGrid>
                <a:gridCol w="2057400"/>
                <a:gridCol w="822950"/>
                <a:gridCol w="1097275"/>
                <a:gridCol w="960100"/>
                <a:gridCol w="32232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Sound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Src-free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7F8C8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QEMU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10–100×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 slow for fuzzing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Valgrind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20–300×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heavyweight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Pin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2–5×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proprietary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Uroboros / ramblr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part.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heuristic symbolisation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DynInst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F39C1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part.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unsafe on stripped ELF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E9Patch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patch-style, limited semantics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RetroWrite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7AE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>
                          <a:solidFill>
                            <a:srgbClr val="2C3E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rep-movs · no x64 cov · no tracer</a:t>
                      </a:r>
                      <a:endParaRPr b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0F1"/>
                    </a:solidFill>
                  </a:tcPr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Ours (RW + E1/2/3)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 sanitised + coverage + tracer</a:t>
                      </a:r>
                      <a:endParaRPr b="0" sz="9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0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Our row is last — no prior tool offers sound + fast + source-free + rep-movs sanitisation + coverage + tracing.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0" y="0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PROBLEM · ENTITIES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System model.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80060" y="1440180"/>
            <a:ext cx="2057130" cy="71982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480060" y="1612440"/>
            <a:ext cx="205713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Target binary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 x86-64 ELF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743200" y="1440180"/>
            <a:ext cx="2057130" cy="71982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2743200" y="1612440"/>
            <a:ext cx="205713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.rela.dyn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relocation oracle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80060" y="2400300"/>
            <a:ext cx="2057130" cy="71982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80060" y="2572560"/>
            <a:ext cx="205713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librw_x64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core rewriter — symboliser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2743200" y="2400300"/>
            <a:ext cx="1851390" cy="71982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2743200" y="2578230"/>
            <a:ext cx="185139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E1 · rep-movs ASan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our fix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4732020" y="2400300"/>
            <a:ext cx="1851390" cy="71982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732020" y="2578230"/>
            <a:ext cx="185139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E2 · coverage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new x64 pass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6720840" y="2400300"/>
            <a:ext cx="1919970" cy="71982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27AE60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6720840" y="2578230"/>
            <a:ext cx="191997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E3 · tracer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new module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80060" y="3429000"/>
            <a:ext cx="2742930" cy="754110"/>
          </a:xfrm>
          <a:prstGeom prst="roundRect">
            <a:avLst>
              <a:gd fmla="val 6000" name="adj"/>
            </a:avLst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480060" y="3618270"/>
            <a:ext cx="2742930" cy="3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Hardened binary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reassembled by gcc / clang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3429000" y="3429000"/>
            <a:ext cx="2057130" cy="75411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3429000" y="3623940"/>
            <a:ext cx="205713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 AFL++ / analyst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runs or fuzzes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692140" y="3429000"/>
            <a:ext cx="2948670" cy="75411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692140" y="3623940"/>
            <a:ext cx="294867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1025" lIns="82350" spcFirstLastPara="1" rIns="82350" wrap="square" tIns="4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Bugs · bitmap · trace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ASan reports + coverage + [TRACE] log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>
            <a:off x="1508760" y="2160270"/>
            <a:ext cx="270" cy="24030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" name="Google Shape;225;p21"/>
          <p:cNvCxnSpPr/>
          <p:nvPr/>
        </p:nvCxnSpPr>
        <p:spPr>
          <a:xfrm>
            <a:off x="3771900" y="2160270"/>
            <a:ext cx="270" cy="24030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6" name="Google Shape;226;p21"/>
          <p:cNvCxnSpPr/>
          <p:nvPr/>
        </p:nvCxnSpPr>
        <p:spPr>
          <a:xfrm>
            <a:off x="1508760" y="3120390"/>
            <a:ext cx="270" cy="30888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7" name="Google Shape;227;p21"/>
          <p:cNvCxnSpPr/>
          <p:nvPr/>
        </p:nvCxnSpPr>
        <p:spPr>
          <a:xfrm>
            <a:off x="3634740" y="3120390"/>
            <a:ext cx="270" cy="30888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8" name="Google Shape;228;p21"/>
          <p:cNvCxnSpPr/>
          <p:nvPr/>
        </p:nvCxnSpPr>
        <p:spPr>
          <a:xfrm>
            <a:off x="5692140" y="3120390"/>
            <a:ext cx="270" cy="30888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9" name="Google Shape;229;p21"/>
          <p:cNvCxnSpPr/>
          <p:nvPr/>
        </p:nvCxnSpPr>
        <p:spPr>
          <a:xfrm>
            <a:off x="7680960" y="3120390"/>
            <a:ext cx="270" cy="30888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0" name="Google Shape;230;p21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All three passes live in rwtools_x64/ and obey RetroWrite's -m &lt;module&gt; CLI contract.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PROBLEM . SCOPE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Threat model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8853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62850" y="1577350"/>
            <a:ext cx="188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C4125"/>
                </a:solidFill>
                <a:latin typeface="Calibri"/>
                <a:ea typeface="Calibri"/>
                <a:cs typeface="Calibri"/>
                <a:sym typeface="Calibri"/>
              </a:rPr>
              <a:t>Attacker</a:t>
            </a:r>
            <a:endParaRPr b="0" sz="3000" strike="noStrike">
              <a:solidFill>
                <a:srgbClr val="CC41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494886" y="2262350"/>
            <a:ext cx="2478600" cy="18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Arbitrary input (stdin/network)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Cannot patch binary or kernel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Assumes ASLR, NX are ON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Goal: Control hijack or DoS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3460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3274395" y="2262350"/>
            <a:ext cx="2749800" cy="10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Only has stripped PIE ELF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Adds RetroWrite instrumentation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Constraint: Near-native speed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Wants: Find bugs pre-deploy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08067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200685" y="2262345"/>
            <a:ext cx="21258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Pure logic/auth bugs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Side-channels / timing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Non-PIE binaries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Kernel-level compromise</a:t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480060" y="4766310"/>
            <a:ext cx="82293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7F8C8D"/>
                </a:solidFill>
                <a:latin typeface="Consolas"/>
                <a:ea typeface="Consolas"/>
                <a:cs typeface="Consolas"/>
                <a:sym typeface="Consolas"/>
              </a:rPr>
              <a:t>Soundness holds only for PIE binaries with intact relocations.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471575" y="1577350"/>
            <a:ext cx="188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Defender</a:t>
            </a:r>
            <a:endParaRPr b="0" sz="3000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6280300" y="1577350"/>
            <a:ext cx="2387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sz="3000" strike="noStrike">
              <a:solidFill>
                <a:srgbClr val="1B4F7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0" y="0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80060" y="377190"/>
            <a:ext cx="6857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480060" y="582930"/>
            <a:ext cx="7200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Three extensions.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80060" y="1062990"/>
            <a:ext cx="41130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38853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662850" y="1577346"/>
            <a:ext cx="1046400" cy="5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E1</a:t>
            </a:r>
            <a:endParaRPr b="0" sz="4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1449" y="2537425"/>
            <a:ext cx="23085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rep-movs / rep-stos ASan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662850" y="2983230"/>
            <a:ext cx="274200" cy="1320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62850" y="3120390"/>
            <a:ext cx="21258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Four shadow probes catch memcpy overflows that RetroWrite silently missed.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662850" y="4080510"/>
            <a:ext cx="2125800" cy="308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62850" y="4114800"/>
            <a:ext cx="21258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DISABLE_REP_FIX=1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23460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3508920" y="1577340"/>
            <a:ext cx="1371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b="0" sz="4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508920" y="2537460"/>
            <a:ext cx="2125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Basic-block coverage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508920" y="2983230"/>
            <a:ext cx="274200" cy="13200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508920" y="3120390"/>
            <a:ext cx="2125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AFL-compatible bitmap via raw mmap</a:t>
            </a:r>
            <a:r>
              <a:rPr lang="en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no AFL runtime required.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508920" y="4080510"/>
            <a:ext cx="2125800" cy="308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508920" y="4114800"/>
            <a:ext cx="21258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DISABLE_COVERAGE=1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080670" y="1371600"/>
            <a:ext cx="2674500" cy="32229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6354990" y="1577340"/>
            <a:ext cx="1371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b="0" sz="4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6354990" y="2537460"/>
            <a:ext cx="2125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Function-call tracer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6354990" y="2983230"/>
            <a:ext cx="274200" cy="1320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354990" y="3120390"/>
            <a:ext cx="2125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Call-site trampolines log every entry to a circular buffer.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354990" y="4080510"/>
            <a:ext cx="2125800" cy="308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6354990" y="4114800"/>
            <a:ext cx="21258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DISABLE_TRACE=1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80060" y="4766310"/>
            <a:ext cx="82293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onsolas"/>
                <a:ea typeface="Consolas"/>
                <a:cs typeface="Consolas"/>
                <a:sym typeface="Consolas"/>
              </a:rPr>
              <a:t>Each pass drops in via  python3 retrowrite -m &lt;mod&gt;.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/>
          <p:nvPr/>
        </p:nvSpPr>
        <p:spPr>
          <a:xfrm>
            <a:off x="2700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EXTENSION 1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E1  ·  Memcpy safety, finally.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48006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80060" y="1371600"/>
            <a:ext cx="54540" cy="322299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72009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72009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Silent memcpy overflow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685800" y="2765610"/>
            <a:ext cx="370305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rep movsb copies 50 B into a 10 B buffer.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685800" y="3086100"/>
            <a:ext cx="3565890" cy="75411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857250" y="3256740"/>
            <a:ext cx="3360150" cy="343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if mnemonic.startswith("rep stos"):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    pass   # XXX: TODO for more accurate check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# rep movs — not handled at all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720090" y="4183380"/>
            <a:ext cx="370305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Runtime: SEGV — silent corruption.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475902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4732020" y="1371600"/>
            <a:ext cx="54540" cy="322299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497205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97205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Four boundary probes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4972050" y="4046220"/>
            <a:ext cx="370305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Each probe hits shadow memory and can fault safely.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4972050" y="4183380"/>
            <a:ext cx="370305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Runtime: AddressSanitizer  READ of size 1.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Instrumented sites: 51 → 52. Outcome: silent SEGV becomes a precise ASan report.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740" y="2228850"/>
            <a:ext cx="3996270" cy="38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207802"/>
            <a:ext cx="3992500" cy="16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EXTENSIONS 2 &amp; 3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E2 and E3  ·  Coverage + tracing.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48006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480060" y="1371600"/>
            <a:ext cx="54540" cy="3222990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72009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E2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72009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Basic-block coverage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2160270" y="2674620"/>
            <a:ext cx="685530" cy="34263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2160270" y="2782620"/>
            <a:ext cx="685530" cy="12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BB1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2777490" y="2633580"/>
            <a:ext cx="109350" cy="10935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1200150" y="3291840"/>
            <a:ext cx="685530" cy="34263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1200150" y="3399840"/>
            <a:ext cx="685530" cy="12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BB2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817370" y="3250800"/>
            <a:ext cx="109350" cy="10935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3120390" y="3291840"/>
            <a:ext cx="685530" cy="34263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120390" y="3399840"/>
            <a:ext cx="685530" cy="12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BB3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37610" y="3250800"/>
            <a:ext cx="109350" cy="10935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2160270" y="3909060"/>
            <a:ext cx="685530" cy="34263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2160270" y="4017060"/>
            <a:ext cx="685530" cy="126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BB4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2777490" y="3868020"/>
            <a:ext cx="109350" cy="109350"/>
          </a:xfrm>
          <a:prstGeom prst="ellipse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25"/>
          <p:cNvCxnSpPr/>
          <p:nvPr/>
        </p:nvCxnSpPr>
        <p:spPr>
          <a:xfrm flipH="1">
            <a:off x="1543050" y="3017520"/>
            <a:ext cx="960390" cy="27459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25"/>
          <p:cNvCxnSpPr/>
          <p:nvPr/>
        </p:nvCxnSpPr>
        <p:spPr>
          <a:xfrm>
            <a:off x="2503170" y="3017520"/>
            <a:ext cx="960390" cy="27459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25"/>
          <p:cNvCxnSpPr/>
          <p:nvPr/>
        </p:nvCxnSpPr>
        <p:spPr>
          <a:xfrm>
            <a:off x="1543050" y="3634740"/>
            <a:ext cx="960390" cy="27459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25"/>
          <p:cNvCxnSpPr/>
          <p:nvPr/>
        </p:nvCxnSpPr>
        <p:spPr>
          <a:xfrm flipH="1">
            <a:off x="2503170" y="3634740"/>
            <a:ext cx="960390" cy="274590"/>
          </a:xfrm>
          <a:prstGeom prst="straightConnector1">
            <a:avLst/>
          </a:prstGeom>
          <a:noFill/>
          <a:ln cap="flat" cmpd="sng" w="1522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p25"/>
          <p:cNvSpPr/>
          <p:nvPr/>
        </p:nvSpPr>
        <p:spPr>
          <a:xfrm>
            <a:off x="685800" y="2434320"/>
            <a:ext cx="370305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Red mark = edge-hash trampoline at BB entry.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720090" y="4354830"/>
            <a:ext cx="370305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bitmap[cur ⊕ prev]++  ·  64 KiB via raw mmap.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473202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4732020" y="1371600"/>
            <a:ext cx="54540" cy="322299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497205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E3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497205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Function-call tracer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4972050" y="2708910"/>
            <a:ext cx="685530" cy="30834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4972050" y="2805570"/>
            <a:ext cx="685530" cy="115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5692140" y="2708910"/>
            <a:ext cx="685530" cy="30834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5692140" y="2805570"/>
            <a:ext cx="685530" cy="115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process_data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6412230" y="2708910"/>
            <a:ext cx="685530" cy="30834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6412230" y="2805570"/>
            <a:ext cx="685530" cy="115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helper_a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7132320" y="2708910"/>
            <a:ext cx="685530" cy="30834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7132320" y="2805570"/>
            <a:ext cx="685530" cy="115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7852410" y="2708910"/>
            <a:ext cx="685530" cy="308340"/>
          </a:xfrm>
          <a:prstGeom prst="roundRect">
            <a:avLst>
              <a:gd fmla="val 6000" name="adj"/>
            </a:avLst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7852410" y="2805570"/>
            <a:ext cx="685530" cy="115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cleanup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25"/>
          <p:cNvCxnSpPr/>
          <p:nvPr/>
        </p:nvCxnSpPr>
        <p:spPr>
          <a:xfrm>
            <a:off x="5314950" y="3120390"/>
            <a:ext cx="2880630" cy="270"/>
          </a:xfrm>
          <a:prstGeom prst="straightConnector1">
            <a:avLst/>
          </a:prstGeom>
          <a:noFill/>
          <a:ln cap="flat" cmpd="sng" w="15875">
            <a:solidFill>
              <a:srgbClr val="7F8C8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25"/>
          <p:cNvSpPr/>
          <p:nvPr/>
        </p:nvSpPr>
        <p:spPr>
          <a:xfrm>
            <a:off x="4732020" y="3188970"/>
            <a:ext cx="404595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time →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4972050" y="3497580"/>
            <a:ext cx="3565890" cy="89127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5109210" y="3579930"/>
            <a:ext cx="3360150" cy="4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subq $8, %rsp            ; 16-B re-align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pushq %rdi … %r11        ; save 9 regs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leaq .LTRACE_NAME(%rip),%rdi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2C3E50"/>
                </a:solidFill>
                <a:latin typeface="Consolas"/>
                <a:ea typeface="Consolas"/>
                <a:cs typeface="Consolas"/>
                <a:sym typeface="Consolas"/>
              </a:rPr>
              <a:t>callq __trace_log_entry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Both passes use the same trampoline pattern — spill, call, restore.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/>
          <p:nvPr/>
        </p:nvSpPr>
        <p:spPr>
          <a:xfrm>
            <a:off x="27000" y="0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EVALUATION · PAPER REPRODUCTION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Midterm results.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48006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72009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BUG DETECTION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2009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All four classes caught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720090" y="2537460"/>
            <a:ext cx="3565890" cy="3769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857250" y="2651130"/>
            <a:ext cx="2400030" cy="149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Heap out-of-bounds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3600703" y="2662740"/>
            <a:ext cx="822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silent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720090" y="2969460"/>
            <a:ext cx="3565890" cy="3769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857250" y="3083130"/>
            <a:ext cx="2400030" cy="149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Use-after-free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3600703" y="3094740"/>
            <a:ext cx="822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silent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720090" y="3401460"/>
            <a:ext cx="3565890" cy="3769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857250" y="3515130"/>
            <a:ext cx="2400030" cy="149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Stack overflow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3600703" y="3526740"/>
            <a:ext cx="822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SEG</a:t>
            </a: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720090" y="3833730"/>
            <a:ext cx="3565890" cy="3769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857250" y="3947400"/>
            <a:ext cx="2400030" cy="149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Double free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3600703" y="3959010"/>
            <a:ext cx="822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glibc abort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720090" y="4217670"/>
            <a:ext cx="3703050" cy="137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4732020" y="1371600"/>
            <a:ext cx="4045950" cy="322299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972050" y="1577340"/>
            <a:ext cx="370305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AFL THROUGHPUT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972050" y="1817370"/>
            <a:ext cx="3703050" cy="25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88.6% of source speed</a:t>
            </a:r>
            <a:endParaRPr b="0" sz="17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5212080" y="2811780"/>
            <a:ext cx="754110" cy="137133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5074920" y="2537460"/>
            <a:ext cx="102843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4790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5074920" y="4251960"/>
            <a:ext cx="10284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Source AFL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6377940" y="2968110"/>
            <a:ext cx="754110" cy="1215000"/>
          </a:xfrm>
          <a:prstGeom prst="rect">
            <a:avLst/>
          </a:prstGeom>
          <a:solidFill>
            <a:srgbClr val="2E86C1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6240780" y="2693790"/>
            <a:ext cx="102843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4244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6240780" y="4251960"/>
            <a:ext cx="10284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RetroWrite AFL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7543800" y="3954420"/>
            <a:ext cx="754110" cy="22869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7406640" y="3680100"/>
            <a:ext cx="1028430" cy="160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7406640" y="4251960"/>
            <a:ext cx="10284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QEMU AFL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5074920" y="4183380"/>
            <a:ext cx="3360150" cy="8640"/>
          </a:xfrm>
          <a:prstGeom prst="rect">
            <a:avLst/>
          </a:prstGeom>
          <a:solidFill>
            <a:srgbClr val="7F8C8D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4834885" y="2696598"/>
            <a:ext cx="5484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exec/s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Reproduced on Ubuntu 24 / AFL++ 4.30c.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720115" y="2111980"/>
            <a:ext cx="3565800" cy="376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850469" y="2228530"/>
            <a:ext cx="2400000" cy="1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Test case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3623752" y="2240065"/>
            <a:ext cx="8226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1" sz="1000" strike="noStrike">
              <a:solidFill>
                <a:srgbClr val="1B4F7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/>
          <p:nvPr/>
        </p:nvSpPr>
        <p:spPr>
          <a:xfrm>
            <a:off x="0" y="11304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EVALUATION · OUR EXTENSIONS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Endterm results.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480060" y="1371600"/>
            <a:ext cx="2468610" cy="92556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480060" y="1371600"/>
            <a:ext cx="54540" cy="925560"/>
          </a:xfrm>
          <a:prstGeom prst="rect">
            <a:avLst/>
          </a:prstGeom>
          <a:solidFill>
            <a:srgbClr val="E74C3C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685800" y="1508760"/>
            <a:ext cx="2194290" cy="18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E1 · rep-movs ASan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685800" y="1829051"/>
            <a:ext cx="21942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memcpy overflow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3120390" y="137160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3120390" y="149499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3120390" y="168021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SEGV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7"/>
          <p:cNvCxnSpPr/>
          <p:nvPr/>
        </p:nvCxnSpPr>
        <p:spPr>
          <a:xfrm>
            <a:off x="4663440" y="1834380"/>
            <a:ext cx="274590" cy="270"/>
          </a:xfrm>
          <a:prstGeom prst="straightConnector1">
            <a:avLst/>
          </a:prstGeom>
          <a:noFill/>
          <a:ln cap="flat" cmpd="sng" w="31750">
            <a:solidFill>
              <a:srgbClr val="2E86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1" name="Google Shape;411;p27"/>
          <p:cNvSpPr/>
          <p:nvPr/>
        </p:nvSpPr>
        <p:spPr>
          <a:xfrm>
            <a:off x="5006340" y="137160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5006340" y="149499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5006340" y="168021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ASan READ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6720850" y="1611625"/>
            <a:ext cx="2194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50 B copied into 10 B dst  silent</a:t>
            </a:r>
            <a:r>
              <a:rPr lang="en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precise report.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480060" y="2434590"/>
            <a:ext cx="2468610" cy="92556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480060" y="2434590"/>
            <a:ext cx="54540" cy="925560"/>
          </a:xfrm>
          <a:prstGeom prst="rect">
            <a:avLst/>
          </a:prstGeom>
          <a:solidFill>
            <a:srgbClr val="F39C1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685800" y="2571750"/>
            <a:ext cx="2194290" cy="18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E2 · Coverage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685800" y="2880737"/>
            <a:ext cx="21942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basic blocks tracked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3120390" y="243459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3120390" y="255798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3120390" y="274320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7"/>
          <p:cNvCxnSpPr/>
          <p:nvPr/>
        </p:nvCxnSpPr>
        <p:spPr>
          <a:xfrm>
            <a:off x="4663440" y="2897370"/>
            <a:ext cx="274590" cy="270"/>
          </a:xfrm>
          <a:prstGeom prst="straightConnector1">
            <a:avLst/>
          </a:prstGeom>
          <a:noFill/>
          <a:ln cap="flat" cmpd="sng" w="31750">
            <a:solidFill>
              <a:srgbClr val="2E86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27"/>
          <p:cNvSpPr/>
          <p:nvPr/>
        </p:nvSpPr>
        <p:spPr>
          <a:xfrm>
            <a:off x="5006340" y="243459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5006340" y="255798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5006340" y="274320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/ 20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6720852" y="2674625"/>
            <a:ext cx="219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Edge-hash bitmap populated on every run.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480060" y="3497580"/>
            <a:ext cx="2468610" cy="92556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480060" y="3497580"/>
            <a:ext cx="54540" cy="925560"/>
          </a:xfrm>
          <a:prstGeom prst="rect">
            <a:avLst/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685800" y="3634740"/>
            <a:ext cx="2194290" cy="18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E3 · Tracer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685800" y="3943727"/>
            <a:ext cx="21942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functions logged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3120390" y="349758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7F8C8D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3120390" y="362097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sz="1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3120390" y="380619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27"/>
          <p:cNvCxnSpPr/>
          <p:nvPr/>
        </p:nvCxnSpPr>
        <p:spPr>
          <a:xfrm>
            <a:off x="4663440" y="3960360"/>
            <a:ext cx="274590" cy="270"/>
          </a:xfrm>
          <a:prstGeom prst="straightConnector1">
            <a:avLst/>
          </a:prstGeom>
          <a:noFill/>
          <a:ln cap="flat" cmpd="sng" w="31750">
            <a:solidFill>
              <a:srgbClr val="2E86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5" name="Google Shape;435;p27"/>
          <p:cNvSpPr/>
          <p:nvPr/>
        </p:nvSpPr>
        <p:spPr>
          <a:xfrm>
            <a:off x="5006340" y="3497580"/>
            <a:ext cx="1508490" cy="925560"/>
          </a:xfrm>
          <a:prstGeom prst="roundRect">
            <a:avLst>
              <a:gd fmla="val 6000" name="adj"/>
            </a:avLst>
          </a:prstGeom>
          <a:solidFill>
            <a:srgbClr val="27AE60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5006340" y="3620970"/>
            <a:ext cx="150849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OURS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5006340" y="3806190"/>
            <a:ext cx="1508490" cy="274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6720852" y="3737600"/>
            <a:ext cx="2194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Circular 64 K-entry buffer, raw write(2) output.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All three passes are toggleable via DISABLE_REP_FIX / DISABLE_COVERAGE / DISABLE_TRACE.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8"/>
          <p:cNvSpPr/>
          <p:nvPr/>
        </p:nvSpPr>
        <p:spPr>
          <a:xfrm>
            <a:off x="0" y="10219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WHAT COMES NEXT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Current limitations &amp; future work.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480060" y="1508760"/>
            <a:ext cx="2742930" cy="294867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8"/>
          <p:cNvSpPr/>
          <p:nvPr/>
        </p:nvSpPr>
        <p:spPr>
          <a:xfrm>
            <a:off x="720090" y="1714500"/>
            <a:ext cx="240003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720101" y="2125975"/>
            <a:ext cx="24000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z="13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PIE-only — non-PIE has no relocations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z="13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multi-threaded target support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z="13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Tracer buffer overflows on very long runs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300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•   </a:t>
            </a:r>
            <a:r>
              <a:rPr b="0" lang="en" sz="1300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 per-object redzones (no DWARF)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3429000" y="1508760"/>
            <a:ext cx="2548530" cy="89127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3566160" y="1611630"/>
            <a:ext cx="22742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Probabilistic Disassembly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3566160" y="1851660"/>
            <a:ext cx="227421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Non-PIE binaries.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6114960" y="1508760"/>
            <a:ext cx="2548530" cy="89127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6252120" y="1611630"/>
            <a:ext cx="22742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Prologue / Epilogue Pass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6252120" y="1851660"/>
            <a:ext cx="2274300" cy="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Stack canaries.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463313" y="2571748"/>
            <a:ext cx="2548500" cy="89130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3566160" y="2640330"/>
            <a:ext cx="22742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DWARF-aware Boundaries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3566160" y="2880360"/>
            <a:ext cx="227421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Per-object redzones.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6114960" y="2537460"/>
            <a:ext cx="2548530" cy="891270"/>
          </a:xfrm>
          <a:prstGeom prst="roundRect">
            <a:avLst>
              <a:gd fmla="val 6000" name="adj"/>
            </a:avLst>
          </a:prstGeom>
          <a:solidFill>
            <a:srgbClr val="ECF0F1"/>
          </a:solidFill>
          <a:ln cap="flat" cmpd="sng" w="10150">
            <a:solidFill>
              <a:srgbClr val="BDC3C7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6252120" y="2640330"/>
            <a:ext cx="2274210" cy="1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Indirect-call Matching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6252120" y="2880360"/>
            <a:ext cx="2274210" cy="12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Forward-edge CFI.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480060" y="4834890"/>
            <a:ext cx="8229330" cy="10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Each tile maps to an open CWE or research gap in the current literature.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480060" y="377190"/>
            <a:ext cx="6857730" cy="1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WHAT WE BUILT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480060" y="582930"/>
            <a:ext cx="7200630" cy="343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Summary.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480060" y="1062990"/>
            <a:ext cx="41121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594270" y="1611630"/>
            <a:ext cx="2262870" cy="61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sz="4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3440340" y="1611630"/>
            <a:ext cx="2262870" cy="61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3440340" y="2366010"/>
            <a:ext cx="226287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6286410" y="1611630"/>
            <a:ext cx="2262870" cy="61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6286410" y="2366010"/>
            <a:ext cx="2262870" cy="1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758150" y="1343175"/>
            <a:ext cx="34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Reproduced the paper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3747470" y="1370240"/>
            <a:ext cx="4594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bzip2 identical — 88.6% of source-AFL speed — 5.3× faster than QEMU.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9"/>
          <p:cNvSpPr/>
          <p:nvPr/>
        </p:nvSpPr>
        <p:spPr>
          <a:xfrm>
            <a:off x="758150" y="1951805"/>
            <a:ext cx="34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Closed TODOs in upstream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9"/>
          <p:cNvSpPr/>
          <p:nvPr/>
        </p:nvSpPr>
        <p:spPr>
          <a:xfrm>
            <a:off x="3747470" y="2640345"/>
            <a:ext cx="4594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rep movs / stos now instrumented — silent SEGV becomes a precise report.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9"/>
          <p:cNvSpPr/>
          <p:nvPr/>
        </p:nvSpPr>
        <p:spPr>
          <a:xfrm>
            <a:off x="758150" y="2560425"/>
            <a:ext cx="3428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Added coverage + tracer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9"/>
          <p:cNvSpPr/>
          <p:nvPr/>
        </p:nvSpPr>
        <p:spPr>
          <a:xfrm>
            <a:off x="3747470" y="2037808"/>
            <a:ext cx="45945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x64 coverage and native tracer — all fully toggleable via env vars.</a:t>
            </a:r>
            <a:endParaRPr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480060" y="4491990"/>
            <a:ext cx="8160750" cy="479790"/>
          </a:xfrm>
          <a:prstGeom prst="roundRect">
            <a:avLst>
              <a:gd fmla="val 6000" name="adj"/>
            </a:avLst>
          </a:prstGeom>
          <a:solidFill>
            <a:srgbClr val="1B4F72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/>
          <p:nvPr/>
        </p:nvSpPr>
        <p:spPr>
          <a:xfrm>
            <a:off x="480060" y="4640220"/>
            <a:ext cx="8160750" cy="183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Relocation-guided rewriting is an extensible platform.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"/>
          <p:cNvSpPr/>
          <p:nvPr/>
        </p:nvSpPr>
        <p:spPr>
          <a:xfrm>
            <a:off x="0" y="0"/>
            <a:ext cx="9143550" cy="514323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480060" y="237908"/>
            <a:ext cx="6857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CITATIONS · IEEE FORMAT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480060" y="413801"/>
            <a:ext cx="7200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References  ·   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480060" y="903810"/>
            <a:ext cx="41130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1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480050" y="1058550"/>
            <a:ext cx="85455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[1] S. Dinesh, N. Burow, D. Xu, and M. Payer, "RetroWrite: Statically Instrumenting COTS Binaries for Fuzzing and Sanitization," OPAL (Open@LaTrobe), La Trobe University, May 2020. https://doi.org/10.1109/sp40000.2020.00009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[2] K. Serebryany, D. Bruening, A. Potapenko, and D. Vyukov, "AddressSanitizer: A Fast Address Sanity Checker," Proc. USENIX Annual Technical Conference (ATC), 2012, pp. 309–318. https://www.usenix.org/conference/atc12/technical-sessions/presentation/serebryany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[3] M. Zalewski, "American Fuzzy Lop (AFL)," 2017. https://lcamtuf.coredump.cx/afl/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[4] F. Bellard, "QEMU, a Fast and Portable Dynamic Translator," Proc. USENIX Annual Technical Conference (ATC), 2005, pp. 41–46. https://www.usenix.org/conference/2005-usenix-annual-technical-conference/qemu-fast-and-portable-dynamic-translator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[5] N. Nethercote and J. Seward, "Valgrind: A Framework for Heavyweight Dynamic Binary Instrumentation," Proc. ACM SIGPLAN Conf. Programming Language Design and Implementation (PLDI), 2007, pp. 89–100. https://valgrind.org/docs/valgrind2007.pdf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[6] C.-K. Luk et al., "Pin: Building Customized Program Analysis Tools with Dynamic Instrumentation," ACM SIGPLAN Notices, vol. 40, no. 6, pp. 190–200, Jun. 2005. https://doi.org/10.1145/1064978.1065034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[7] D. Bruening, T. Garnett, and S. Amarasinghe, "An Infrastructure for Adaptive Dynamic Optimization," Proc. Int. Symp. Code Generation and Optimization (CGO), 2003, pp. 265–275. https://commit.csail.mit.edu/papers/2003/RIO-adaptive-CGO03.pdf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[8] S. Wang, P. Wang, and D. Wu, "Reassembleable Disassembling," Proc. USENIX Security Symposium, 2015, pp. 627–642. https://www.usenix.org/conference/usenixsecurity15/technical-sessions/presentation/wang-shuai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[9] R. Wang et al., "Ramblr: Making Reassembly Great Again," Proc. Network and Distributed System Security Symposium (NDSS), 2017. https://www.ndss-symposium.org/ndss2017/ndss-2017-programme/ramblr-making-reassembly-great-again/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[10] A. R. Bernat and B. P. Miller, "Anywhere, Any-Time Binary Instrumentation," Proc. ACM SIGPLAN Workshop on Program Analysis for Software Tools and Engineering (PASTE), Sep. 2011, pp. 9–16. https://doi.org/10.1145/2024569.2024572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[11] G. J. Duck, X. Gao, and A. Roychoudhury, "Binary Rewriting without Control Flow Recovery," Proc. ACM SIGPLAN Conf. Programming Language Design and Implementation (PLDI), Jun. 2020, pp. 151–163. https://doi.org/10.1145/3385412.3385972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[12] "What is Address Space Layout Randomization (ASLR)?" ReasonLabs Cyberpedia, 2023. https://cyberpedia.reasonlabs.com/EN/address%20space%20layout%20randomization%20(aslr).html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1"/>
          <p:cNvSpPr/>
          <p:nvPr/>
        </p:nvSpPr>
        <p:spPr>
          <a:xfrm>
            <a:off x="0" y="0"/>
            <a:ext cx="9143400" cy="51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33750" lIns="67500" spcFirstLastPara="1" rIns="67500" wrap="square" tIns="33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480060" y="237908"/>
            <a:ext cx="6857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CITATIONS · IEEE FORMAT</a:t>
            </a:r>
            <a:endParaRPr b="0" sz="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480060" y="413801"/>
            <a:ext cx="7200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References  ·   </a:t>
            </a:r>
            <a:endParaRPr b="0" sz="2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480060" y="903810"/>
            <a:ext cx="411300" cy="16200"/>
          </a:xfrm>
          <a:prstGeom prst="rect">
            <a:avLst/>
          </a:prstGeom>
          <a:solidFill>
            <a:srgbClr val="BDC3C7"/>
          </a:solidFill>
          <a:ln>
            <a:noFill/>
          </a:ln>
          <a:effectLst>
            <a:outerShdw blurRad="39960" rotWithShape="0" dir="5400000" dist="23040">
              <a:srgbClr val="000000">
                <a:alpha val="34900"/>
              </a:srgbClr>
            </a:outerShdw>
          </a:effectLst>
        </p:spPr>
        <p:txBody>
          <a:bodyPr anchorCtr="0" anchor="ctr" bIns="0" lIns="67500" spcFirstLastPara="1" rIns="675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1"/>
          <p:cNvSpPr/>
          <p:nvPr/>
        </p:nvSpPr>
        <p:spPr>
          <a:xfrm>
            <a:off x="480050" y="1058550"/>
            <a:ext cx="85455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[13] N. A. Quynh, "Capstone: Next-Generation Disassembly Framework," Proc. Black Hat USA, 2014.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https://www.capstone-engine.org/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[14] MITRE Corp., "CWE-120: Buffer Copy without Checking Size of Input." https://cwe.mitre.org/data/definitions/120.html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[15] MITRE Corp., "CWE-121: Stack-Based Buffer Overflow." https://cwe.mitre.org/data/definitions/121.html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[16] S. Rostedt, "ftrace: Function Tracer for Linux." https://www.kernel.org/doc/Documentation/trace/ftrace.txt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[17] J. Weidendorfer, "Callgrind: A Call-Graph Generating Cache Profiler," Valgrind Project, 2004.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[18] J. Seward, "bzip2 and libbzip2, version 1.0.8," 2019.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https://sourceware.org/bzip2/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[19] K. Miller et al., "Probabilistic Disassembly," Proc. Int. Conf. Software Engineering (ICSE), 2019, pp. 1187–1198. https://doi.org/10.1109/ICSE.2019.00123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[20] P. Chen and H. Chen, "Angora: Efficient Fuzzing by Principled Search," Proc. IEEE Symp. Security &amp; Privacy (S&amp;P), 2018, pp. 711–725. https://doi.org/10.1109/SP.2018.00046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[21] Intel Corp., "Control-flow Enforcement Technology Specification," 2019.</a:t>
            </a: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https://www.intel.com/content/www/us/en/developer/articles/technical/control-flow-enforcement-technology.html 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[22] L. Szekeres et al., "SoK: Eternal War in Memory," Proc. IEEE Symp. Security &amp; Privacy (S&amp;P), 2013, pp. 48–62. https://doi.org/10.1109/SP.2013.13</a:t>
            </a:r>
            <a:endParaRPr sz="900">
              <a:solidFill>
                <a:srgbClr val="2C3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/>
          <p:nvPr/>
        </p:nvSpPr>
        <p:spPr>
          <a:xfrm>
            <a:off x="3753196" y="2403550"/>
            <a:ext cx="7200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sz="3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