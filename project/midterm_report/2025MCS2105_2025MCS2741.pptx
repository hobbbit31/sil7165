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9D22D8-4D24-45B0-B099-28DB14C26E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4FA11C-F138-41DC-8CD8-B1E1C4E992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7CC1B06-7264-4F65-B5F0-47458BDD86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48C4EA3-EC59-4783-8860-B15326C9FE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6822B39-6863-4177-B1C1-6864704C29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1A0130F-356F-41F7-A7C1-E63CF7A53C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5C2107C-8E70-46A5-B9BD-3B76D4A01E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1A33F48-EB1C-463C-AC84-5A07D74AA7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18371CD-BC4B-4E52-9F0D-D1138697B0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9B57F19-741F-4378-94D4-B00CBE2B60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EFD30C2-CBB6-495D-8861-C1212141B8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BD6C0A-F645-4604-B287-F6117499C02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138126-BE5B-43D2-9A4F-2C351600516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7E9513-9F9F-4083-86A8-0D809A0A0C3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9B41D0-9B5B-4779-82B6-C3EDA7219B1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191629-A01C-4FCA-9073-C75D0EE8735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80BCCB-83D7-411E-A18F-A68097C6898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190F76-B051-4360-85F9-8FD9C1AA829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CF8BD9-DF27-409B-AF16-43939665698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67AF6B-2F82-46B9-9134-F7FF727B8C0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E03E65-FB27-485A-8B12-898F460062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9A1E8C-AD40-4F95-8DF1-0C6B5936B9F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760" cy="7164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199880" y="1400040"/>
            <a:ext cx="979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Rewriting Binaries for Bug Hunting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199880" y="2300040"/>
            <a:ext cx="9799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800" spc="-1" strike="noStrike">
                <a:solidFill>
                  <a:srgbClr val="a0c4e8"/>
                </a:solidFill>
                <a:latin typeface="Calibri"/>
              </a:rPr>
              <a:t>Reproducing RetroWrite for Binary-Only Fuzzing and Sanitization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4500000" y="3200040"/>
            <a:ext cx="3199680" cy="2376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0880" bIns="-208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1199880" y="3499920"/>
            <a:ext cx="9799560" cy="20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SIL7165: Networks &amp; System Security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300" spc="-1" strike="noStrike">
                <a:solidFill>
                  <a:srgbClr val="a0c4e8"/>
                </a:solidFill>
                <a:latin typeface="Calibri"/>
              </a:rPr>
              <a:t>Semester 2, 2025-26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Chirag Suthar (2025MCS2105)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Haleel Sada (2025MCS2741)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200" spc="-1" strike="noStrike">
                <a:solidFill>
                  <a:srgbClr val="6b7b8d"/>
                </a:solidFill>
                <a:latin typeface="Calibri"/>
              </a:rPr>
              <a:t>March 2026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0" y="6786000"/>
            <a:ext cx="12191760" cy="7164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760" cy="104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640080" y="100080"/>
            <a:ext cx="1079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Introduction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640080" y="619920"/>
            <a:ext cx="10799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a0c4e8"/>
                </a:solidFill>
                <a:latin typeface="Calibri"/>
              </a:rPr>
              <a:t>Why do we need this?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 4"/>
          <p:cNvSpPr/>
          <p:nvPr/>
        </p:nvSpPr>
        <p:spPr>
          <a:xfrm>
            <a:off x="0" y="1050120"/>
            <a:ext cx="12191760" cy="3564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11377440" y="6500160"/>
            <a:ext cx="44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b8d"/>
                </a:solidFill>
                <a:latin typeface="Calibri"/>
              </a:rPr>
              <a:t>2/16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ounded Rectangle 6"/>
          <p:cNvSpPr/>
          <p:nvPr/>
        </p:nvSpPr>
        <p:spPr>
          <a:xfrm>
            <a:off x="479880" y="1285920"/>
            <a:ext cx="3499560" cy="519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Rectangle 7"/>
          <p:cNvSpPr/>
          <p:nvPr/>
        </p:nvSpPr>
        <p:spPr>
          <a:xfrm>
            <a:off x="479880" y="1285920"/>
            <a:ext cx="3499560" cy="5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630000" y="1406160"/>
            <a:ext cx="3199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</a:rPr>
              <a:t>The Problem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9"/>
          <p:cNvSpPr/>
          <p:nvPr/>
        </p:nvSpPr>
        <p:spPr>
          <a:xfrm>
            <a:off x="630000" y="1836000"/>
            <a:ext cx="3199680" cy="13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Most software is closed-source — we only get the compiled binary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Binaries have hidden memory bugs (buffer overflow, use-after-free, etc.)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Hackers exploit these bugs to steal data or take control of systems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ounded Rectangle 10"/>
          <p:cNvSpPr/>
          <p:nvPr/>
        </p:nvSpPr>
        <p:spPr>
          <a:xfrm>
            <a:off x="4179960" y="1285920"/>
            <a:ext cx="3499560" cy="519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Rectangle 11"/>
          <p:cNvSpPr/>
          <p:nvPr/>
        </p:nvSpPr>
        <p:spPr>
          <a:xfrm>
            <a:off x="4179960" y="1285920"/>
            <a:ext cx="3499560" cy="59760"/>
          </a:xfrm>
          <a:prstGeom prst="rect">
            <a:avLst/>
          </a:prstGeom>
          <a:solidFill>
            <a:srgbClr val="e74c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12"/>
          <p:cNvSpPr/>
          <p:nvPr/>
        </p:nvSpPr>
        <p:spPr>
          <a:xfrm>
            <a:off x="4330080" y="1406160"/>
            <a:ext cx="3199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e74c3c"/>
                </a:solidFill>
                <a:latin typeface="Calibri"/>
              </a:rPr>
              <a:t>Existing Solutions Are Too Slow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3"/>
          <p:cNvSpPr/>
          <p:nvPr/>
        </p:nvSpPr>
        <p:spPr>
          <a:xfrm>
            <a:off x="4330080" y="1836000"/>
            <a:ext cx="3199680" cy="11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ASan and AFL are great bug-finding tools, but need source code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For binaries: QEMU (10–100x slower), Valgrind (2–300x slower)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Slow = fewer test inputs = fewer bugs found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14"/>
          <p:cNvSpPr/>
          <p:nvPr/>
        </p:nvSpPr>
        <p:spPr>
          <a:xfrm>
            <a:off x="7880040" y="1285920"/>
            <a:ext cx="3499560" cy="519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Rectangle 15"/>
          <p:cNvSpPr/>
          <p:nvPr/>
        </p:nvSpPr>
        <p:spPr>
          <a:xfrm>
            <a:off x="7880040" y="1285920"/>
            <a:ext cx="3499560" cy="5976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16"/>
          <p:cNvSpPr/>
          <p:nvPr/>
        </p:nvSpPr>
        <p:spPr>
          <a:xfrm>
            <a:off x="8030160" y="1406160"/>
            <a:ext cx="3199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7ae60"/>
                </a:solidFill>
                <a:latin typeface="Calibri"/>
              </a:rPr>
              <a:t>RetroWrite’s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17"/>
          <p:cNvSpPr/>
          <p:nvPr/>
        </p:nvSpPr>
        <p:spPr>
          <a:xfrm>
            <a:off x="8030160" y="1836000"/>
            <a:ext cx="3199680" cy="13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Convert binary back to editable assembly using relocation info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Add security checks (ASan/AFL) to the assembly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Reassemble into a new binary — runs at near-native speed!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91760" cy="104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640080" y="100080"/>
            <a:ext cx="1079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What is RetroWrite?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640080" y="619920"/>
            <a:ext cx="10799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a0c4e8"/>
                </a:solidFill>
                <a:latin typeface="Calibri"/>
              </a:rPr>
              <a:t>IEEE S&amp;P 2020 | 300+ citations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 4"/>
          <p:cNvSpPr/>
          <p:nvPr/>
        </p:nvSpPr>
        <p:spPr>
          <a:xfrm>
            <a:off x="0" y="1050120"/>
            <a:ext cx="12191760" cy="3564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11377440" y="6500160"/>
            <a:ext cx="44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b8d"/>
                </a:solidFill>
                <a:latin typeface="Calibri"/>
              </a:rPr>
              <a:t>3/16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479880" y="1235880"/>
            <a:ext cx="5799600" cy="20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b2a4a"/>
                </a:solidFill>
                <a:latin typeface="Calibri"/>
              </a:rPr>
              <a:t>RetroWrite = Static Binary Rewriter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Takes a compiled binary as input (no source code needed)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Produces reassembleable assembly using relocation info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Allows adding security checks like ASan and AFL coverage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Reassembles into a new working binary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endParaRPr b="0" lang="en-US" sz="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1" lang="en-US" sz="1400" spc="-1" strike="noStrike">
                <a:solidFill>
                  <a:srgbClr val="2e86ab"/>
                </a:solidFill>
                <a:latin typeface="Calibri"/>
              </a:rPr>
              <a:t>Key Insight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Modern 64-bit PIC binaries have relocation info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RetroWrite uses these to identify addresses exactly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No guessing / no heuristics = no broken binaries!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ounded Rectangle 7"/>
          <p:cNvSpPr/>
          <p:nvPr/>
        </p:nvSpPr>
        <p:spPr>
          <a:xfrm>
            <a:off x="6500160" y="1335960"/>
            <a:ext cx="5199480" cy="219960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19050">
            <a:solidFill>
              <a:srgbClr val="2e86a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</a:rPr>
              <a:t>The Pipeline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endParaRPr b="0" lang="en-US" sz="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1" lang="en-US" sz="1100" spc="-1" strike="noStrike">
                <a:solidFill>
                  <a:srgbClr val="2e86ab"/>
                </a:solidFill>
                <a:latin typeface="Calibri"/>
              </a:rPr>
              <a:t>Binary  →  Disassemble  →  Symbolize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1" lang="en-US" sz="1100" spc="-1" strike="noStrike">
                <a:solidFill>
                  <a:srgbClr val="2e86ab"/>
                </a:solidFill>
                <a:latin typeface="Calibri"/>
              </a:rPr>
              <a:t>Add Checks  →  Reassemble  →  Safe Binary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ounded Rectangle 8"/>
          <p:cNvSpPr/>
          <p:nvPr/>
        </p:nvSpPr>
        <p:spPr>
          <a:xfrm>
            <a:off x="6500160" y="3836160"/>
            <a:ext cx="5199480" cy="179964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19050">
            <a:solidFill>
              <a:srgbClr val="2e86a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</a:rPr>
              <a:t>Paper Claims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AFL: 4.2x–5.6x faster than QEMU-based fuzzing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ASan: 3x faster than Valgrind, finds 80% more bugs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191760" cy="104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640080" y="100080"/>
            <a:ext cx="1079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Background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640080" y="619920"/>
            <a:ext cx="10799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a0c4e8"/>
                </a:solidFill>
                <a:latin typeface="Calibri"/>
              </a:rPr>
              <a:t>Key technical concepts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4"/>
          <p:cNvSpPr/>
          <p:nvPr/>
        </p:nvSpPr>
        <p:spPr>
          <a:xfrm>
            <a:off x="0" y="1050120"/>
            <a:ext cx="12191760" cy="3564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11377440" y="6500160"/>
            <a:ext cx="44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b8d"/>
                </a:solidFill>
                <a:latin typeface="Calibri"/>
              </a:rPr>
              <a:t>4/16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ounded Rectangle 6"/>
          <p:cNvSpPr/>
          <p:nvPr/>
        </p:nvSpPr>
        <p:spPr>
          <a:xfrm>
            <a:off x="479880" y="1235880"/>
            <a:ext cx="5399640" cy="249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Rectangle 7"/>
          <p:cNvSpPr/>
          <p:nvPr/>
        </p:nvSpPr>
        <p:spPr>
          <a:xfrm>
            <a:off x="479880" y="1235880"/>
            <a:ext cx="47520" cy="249948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8"/>
          <p:cNvSpPr/>
          <p:nvPr/>
        </p:nvSpPr>
        <p:spPr>
          <a:xfrm>
            <a:off x="630000" y="1335960"/>
            <a:ext cx="5099760" cy="7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</a:rPr>
              <a:t>Binary Disassembly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Converting machine code back to assembly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Tools: IDA Pro, Ghidra, Capstone (used by RetroWrite)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ounded Rectangle 9"/>
          <p:cNvSpPr/>
          <p:nvPr/>
        </p:nvSpPr>
        <p:spPr>
          <a:xfrm>
            <a:off x="6180120" y="1235880"/>
            <a:ext cx="5399640" cy="249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Rectangle 10"/>
          <p:cNvSpPr/>
          <p:nvPr/>
        </p:nvSpPr>
        <p:spPr>
          <a:xfrm>
            <a:off x="6180120" y="1235880"/>
            <a:ext cx="47520" cy="249948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11"/>
          <p:cNvSpPr/>
          <p:nvPr/>
        </p:nvSpPr>
        <p:spPr>
          <a:xfrm>
            <a:off x="6329880" y="1335960"/>
            <a:ext cx="5099760" cy="92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2e86ab"/>
                </a:solidFill>
                <a:latin typeface="Calibri"/>
              </a:rPr>
              <a:t>Position-Independent Code (PIC)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Binaries that can load at any address (ASLR)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Contain relocation entries — tell where addresses are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All modern Linux binaries are PIC by default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ounded Rectangle 12"/>
          <p:cNvSpPr/>
          <p:nvPr/>
        </p:nvSpPr>
        <p:spPr>
          <a:xfrm>
            <a:off x="479880" y="3935880"/>
            <a:ext cx="5399640" cy="249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Rectangle 13"/>
          <p:cNvSpPr/>
          <p:nvPr/>
        </p:nvSpPr>
        <p:spPr>
          <a:xfrm>
            <a:off x="479880" y="3935880"/>
            <a:ext cx="47520" cy="249948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14"/>
          <p:cNvSpPr/>
          <p:nvPr/>
        </p:nvSpPr>
        <p:spPr>
          <a:xfrm>
            <a:off x="630000" y="4035960"/>
            <a:ext cx="5099760" cy="92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27ae60"/>
                </a:solidFill>
                <a:latin typeface="Calibri"/>
              </a:rPr>
              <a:t>Address Sanitizer (ASan)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Memory error detector by Google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Shadow memory: 1 byte tracks 8 bytes of real memory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Checks every access; reports freed/OOB memory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ounded Rectangle 15"/>
          <p:cNvSpPr/>
          <p:nvPr/>
        </p:nvSpPr>
        <p:spPr>
          <a:xfrm>
            <a:off x="6180120" y="3935880"/>
            <a:ext cx="5399640" cy="249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Rectangle 16"/>
          <p:cNvSpPr/>
          <p:nvPr/>
        </p:nvSpPr>
        <p:spPr>
          <a:xfrm>
            <a:off x="6180120" y="3935880"/>
            <a:ext cx="47520" cy="2499480"/>
          </a:xfrm>
          <a:prstGeom prst="rect">
            <a:avLst/>
          </a:prstGeom>
          <a:solidFill>
            <a:srgbClr val="e74c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17"/>
          <p:cNvSpPr/>
          <p:nvPr/>
        </p:nvSpPr>
        <p:spPr>
          <a:xfrm>
            <a:off x="6329880" y="4035960"/>
            <a:ext cx="5099760" cy="92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e74c3c"/>
                </a:solidFill>
                <a:latin typeface="Calibri"/>
              </a:rPr>
              <a:t>Coverage-Guided Fuzzing (AFL)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Feed random inputs, track code coverage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Prefer inputs that reach new code paths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Needs fast execution to test millions of inputs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2191760" cy="104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640080" y="100080"/>
            <a:ext cx="1079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Background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640080" y="619920"/>
            <a:ext cx="10799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a0c4e8"/>
                </a:solidFill>
                <a:latin typeface="Calibri"/>
              </a:rPr>
              <a:t>How binary rewriting works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 4"/>
          <p:cNvSpPr/>
          <p:nvPr/>
        </p:nvSpPr>
        <p:spPr>
          <a:xfrm>
            <a:off x="0" y="1050120"/>
            <a:ext cx="12191760" cy="3564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11377440" y="6500160"/>
            <a:ext cx="44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b8d"/>
                </a:solidFill>
                <a:latin typeface="Calibri"/>
              </a:rPr>
              <a:t>5/16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479880" y="1235880"/>
            <a:ext cx="5399640" cy="20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</a:rPr>
              <a:t>Two Approaches to Binary Instrumentation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endParaRPr b="0" lang="en-US" sz="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1" lang="en-US" sz="1300" spc="-1" strike="noStrike">
                <a:solidFill>
                  <a:srgbClr val="e74c3c"/>
                </a:solidFill>
                <a:latin typeface="Calibri"/>
              </a:rPr>
              <a:t>1. Dynamic Binary Translation (DBT)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Translate code at runtime, block by block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Examples: QEMU, Valgrind, Intel PIN, DynamoRIO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Works on any binary, but very slow (10–100x overhead)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endParaRPr b="0" lang="en-US" sz="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1" lang="en-US" sz="1300" spc="-1" strike="noStrike">
                <a:solidFill>
                  <a:srgbClr val="27ae60"/>
                </a:solidFill>
                <a:latin typeface="Calibri"/>
              </a:rPr>
              <a:t>2. Static Binary Rewriting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Modify binary offline, before execution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Much faster (no runtime translation overhead)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Challenge: correctly identify addresses vs numbers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ounded Rectangle 7"/>
          <p:cNvSpPr/>
          <p:nvPr/>
        </p:nvSpPr>
        <p:spPr>
          <a:xfrm>
            <a:off x="6199920" y="1335960"/>
            <a:ext cx="5499720" cy="479952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19050">
            <a:solidFill>
              <a:srgbClr val="2e86a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</a:rPr>
              <a:t>The Symbolization Problem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endParaRPr b="0" lang="en-US" sz="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When rewriting, you need to know which values are addresses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If you move code/data, addresses must be updated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Getting this wrong = broken binary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endParaRPr b="0" lang="en-US" sz="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e74c3c"/>
                </a:solidFill>
                <a:latin typeface="Calibri"/>
              </a:rPr>
              <a:t>✘  </a:t>
            </a:r>
            <a:r>
              <a:rPr b="0" lang="en-US" sz="1100" spc="-1" strike="noStrike">
                <a:solidFill>
                  <a:srgbClr val="e74c3c"/>
                </a:solidFill>
                <a:latin typeface="Calibri"/>
              </a:rPr>
              <a:t>Old tools (Uroboros, ramblr) guess with heuristics — often wrong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endParaRPr b="0" lang="en-US" sz="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1" lang="en-US" sz="1100" spc="-1" strike="noStrike">
                <a:solidFill>
                  <a:srgbClr val="27ae60"/>
                </a:solidFill>
                <a:latin typeface="Calibri"/>
              </a:rPr>
              <a:t>✔  </a:t>
            </a:r>
            <a:r>
              <a:rPr b="1" lang="en-US" sz="1100" spc="-1" strike="noStrike">
                <a:solidFill>
                  <a:srgbClr val="27ae60"/>
                </a:solidFill>
                <a:latin typeface="Calibri"/>
              </a:rPr>
              <a:t>RetroWrite uses relocations — always correct for PIC binaries!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91760" cy="104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640080" y="100080"/>
            <a:ext cx="1079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Related Work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640080" y="619920"/>
            <a:ext cx="10799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a0c4e8"/>
                </a:solidFill>
                <a:latin typeface="Calibri"/>
              </a:rPr>
              <a:t>Comparison of existing approaches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 4"/>
          <p:cNvSpPr/>
          <p:nvPr/>
        </p:nvSpPr>
        <p:spPr>
          <a:xfrm>
            <a:off x="0" y="1050120"/>
            <a:ext cx="12191760" cy="3564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11377440" y="6500160"/>
            <a:ext cx="44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b8d"/>
                </a:solidFill>
                <a:latin typeface="Calibri"/>
              </a:rPr>
              <a:t>6/16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7" name="Table 6"/>
          <p:cNvGraphicFramePr/>
          <p:nvPr/>
        </p:nvGraphicFramePr>
        <p:xfrm>
          <a:off x="479880" y="1285920"/>
          <a:ext cx="11199600" cy="4199760"/>
        </p:xfrm>
        <a:graphic>
          <a:graphicData uri="http://schemas.openxmlformats.org/drawingml/2006/table">
            <a:tbl>
              <a:tblPr/>
              <a:tblGrid>
                <a:gridCol w="1866600"/>
                <a:gridCol w="1866600"/>
                <a:gridCol w="1866600"/>
                <a:gridCol w="1866600"/>
                <a:gridCol w="1866600"/>
                <a:gridCol w="1866600"/>
              </a:tblGrid>
              <a:tr h="4665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Sound?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Fast?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Scalable?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Key Limitation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4665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QEMU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DBT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No (10–100x)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Very slow for fuzzing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5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Valgrind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DBT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No (2–300x)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Too slow for fuzzing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</a:tr>
              <a:tr h="4665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Intel PIN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DBT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No (10–20%)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Runtime overhead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5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DynamoRIO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DBT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No (10–20%)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Runtime overhead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</a:tr>
              <a:tr h="4665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Uroboros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Static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Wrong heuristics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5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ramblr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Static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Partial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Still uses heuristics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</a:tr>
              <a:tr h="4665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DynInst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Static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Partial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Partial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Unsound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5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RetroWrite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Static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Only 64-bit PIC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128" name="Rounded Rectangle 7"/>
          <p:cNvSpPr/>
          <p:nvPr/>
        </p:nvSpPr>
        <p:spPr>
          <a:xfrm>
            <a:off x="2499840" y="5785920"/>
            <a:ext cx="7199640" cy="49968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19050">
            <a:solidFill>
              <a:srgbClr val="2e86a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b2a4a"/>
                </a:solidFill>
                <a:latin typeface="Calibri"/>
              </a:rPr>
              <a:t>RetroWrite is the first tool to achieve soundness + speed + scalability together.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2191760" cy="104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640080" y="100080"/>
            <a:ext cx="1079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Problem Statement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640080" y="619920"/>
            <a:ext cx="10799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a0c4e8"/>
                </a:solidFill>
                <a:latin typeface="Calibri"/>
              </a:rPr>
              <a:t>System Model &amp; Threat Model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4"/>
          <p:cNvSpPr/>
          <p:nvPr/>
        </p:nvSpPr>
        <p:spPr>
          <a:xfrm>
            <a:off x="0" y="1050120"/>
            <a:ext cx="12191760" cy="3564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11377440" y="6500160"/>
            <a:ext cx="44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b8d"/>
                </a:solidFill>
                <a:latin typeface="Calibri"/>
              </a:rPr>
              <a:t>7/16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ounded Rectangle 6"/>
          <p:cNvSpPr/>
          <p:nvPr/>
        </p:nvSpPr>
        <p:spPr>
          <a:xfrm>
            <a:off x="380160" y="1235880"/>
            <a:ext cx="5399640" cy="3599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7"/>
          <p:cNvSpPr/>
          <p:nvPr/>
        </p:nvSpPr>
        <p:spPr>
          <a:xfrm>
            <a:off x="529920" y="1335960"/>
            <a:ext cx="5099760" cy="13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500" spc="-1" strike="noStrike">
                <a:solidFill>
                  <a:srgbClr val="1b2a4a"/>
                </a:solidFill>
                <a:latin typeface="Calibri"/>
              </a:rPr>
              <a:t>System Model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Target: 64-bit Linux PIE binary (closed-source)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RetroWrite: Disassembles, symbolizes, produces assembly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Instrumentation Pass: Adds ASan / AFL coverage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Assembler: Recompiles to working binary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AFL Fuzzer: Tests with millions of random inputs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ounded Rectangle 8"/>
          <p:cNvSpPr/>
          <p:nvPr/>
        </p:nvSpPr>
        <p:spPr>
          <a:xfrm>
            <a:off x="6099840" y="1235880"/>
            <a:ext cx="5399640" cy="3599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9"/>
          <p:cNvSpPr/>
          <p:nvPr/>
        </p:nvSpPr>
        <p:spPr>
          <a:xfrm>
            <a:off x="6249960" y="1335960"/>
            <a:ext cx="5099760" cy="11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500" spc="-1" strike="noStrike">
                <a:solidFill>
                  <a:srgbClr val="e74c3c"/>
                </a:solidFill>
                <a:latin typeface="Calibri"/>
              </a:rPr>
              <a:t>Threat Model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Attacker: Can send crafted inputs to the program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Goal: Exploit memory bugs for code execution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Defender: Security analyst testing binary software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Goal: Find bugs before attackers, using RetroWrite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ounded Rectangle 10"/>
          <p:cNvSpPr/>
          <p:nvPr/>
        </p:nvSpPr>
        <p:spPr>
          <a:xfrm>
            <a:off x="380160" y="5136120"/>
            <a:ext cx="11099520" cy="119952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19050">
            <a:solidFill>
              <a:srgbClr val="2e86a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</a:rPr>
              <a:t>Key Challenges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Correctly symbolizing all addresses (no room for error)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Not breaking ABI (red zone, calling conventions)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Finding free registers for instrumentation code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191760" cy="104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640080" y="100080"/>
            <a:ext cx="1079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Proposed Solution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640080" y="619920"/>
            <a:ext cx="10799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a0c4e8"/>
                </a:solidFill>
                <a:latin typeface="Calibri"/>
              </a:rPr>
              <a:t>The RetroWrite pipeline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 4"/>
          <p:cNvSpPr/>
          <p:nvPr/>
        </p:nvSpPr>
        <p:spPr>
          <a:xfrm>
            <a:off x="0" y="1050120"/>
            <a:ext cx="12191760" cy="3564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11377440" y="6500160"/>
            <a:ext cx="44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b8d"/>
                </a:solidFill>
                <a:latin typeface="Calibri"/>
              </a:rPr>
              <a:t>8/16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ounded Rectangle 6"/>
          <p:cNvSpPr/>
          <p:nvPr/>
        </p:nvSpPr>
        <p:spPr>
          <a:xfrm>
            <a:off x="280080" y="1285920"/>
            <a:ext cx="2149560" cy="509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Rectangle 7"/>
          <p:cNvSpPr/>
          <p:nvPr/>
        </p:nvSpPr>
        <p:spPr>
          <a:xfrm>
            <a:off x="280080" y="1285920"/>
            <a:ext cx="2149560" cy="5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Oval 8"/>
          <p:cNvSpPr/>
          <p:nvPr/>
        </p:nvSpPr>
        <p:spPr>
          <a:xfrm>
            <a:off x="1080000" y="1406160"/>
            <a:ext cx="499680" cy="499680"/>
          </a:xfrm>
          <a:prstGeom prst="ellipse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Box 9"/>
          <p:cNvSpPr/>
          <p:nvPr/>
        </p:nvSpPr>
        <p:spPr>
          <a:xfrm>
            <a:off x="360000" y="1986120"/>
            <a:ext cx="1989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2a4a"/>
                </a:solidFill>
                <a:latin typeface="Calibri"/>
              </a:rPr>
              <a:t>Preprocessing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10"/>
          <p:cNvSpPr/>
          <p:nvPr/>
        </p:nvSpPr>
        <p:spPr>
          <a:xfrm>
            <a:off x="380160" y="2486160"/>
            <a:ext cx="1949760" cy="7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Load binary sections (.text, .data), read relocations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Disassemble using Capstone, build CFG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ounded Rectangle 11"/>
          <p:cNvSpPr/>
          <p:nvPr/>
        </p:nvSpPr>
        <p:spPr>
          <a:xfrm>
            <a:off x="2530080" y="1285920"/>
            <a:ext cx="2149560" cy="509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Rectangle 12"/>
          <p:cNvSpPr/>
          <p:nvPr/>
        </p:nvSpPr>
        <p:spPr>
          <a:xfrm>
            <a:off x="2530080" y="1285920"/>
            <a:ext cx="2149560" cy="5976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Oval 13"/>
          <p:cNvSpPr/>
          <p:nvPr/>
        </p:nvSpPr>
        <p:spPr>
          <a:xfrm>
            <a:off x="3330000" y="1406160"/>
            <a:ext cx="499680" cy="499680"/>
          </a:xfrm>
          <a:prstGeom prst="ellipse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Box 14"/>
          <p:cNvSpPr/>
          <p:nvPr/>
        </p:nvSpPr>
        <p:spPr>
          <a:xfrm>
            <a:off x="2610000" y="1986120"/>
            <a:ext cx="1989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e86ab"/>
                </a:solidFill>
                <a:latin typeface="Calibri"/>
              </a:rPr>
              <a:t>Symbolization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15"/>
          <p:cNvSpPr/>
          <p:nvPr/>
        </p:nvSpPr>
        <p:spPr>
          <a:xfrm>
            <a:off x="2630160" y="2486160"/>
            <a:ext cx="1949760" cy="10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Replace hardcoded addresses with labels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Uses relocations for sound symbolization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Three types: control-flow, PC-relative, data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ounded Rectangle 16"/>
          <p:cNvSpPr/>
          <p:nvPr/>
        </p:nvSpPr>
        <p:spPr>
          <a:xfrm>
            <a:off x="4780080" y="1285920"/>
            <a:ext cx="2149560" cy="509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ectangle 17"/>
          <p:cNvSpPr/>
          <p:nvPr/>
        </p:nvSpPr>
        <p:spPr>
          <a:xfrm>
            <a:off x="4780080" y="1285920"/>
            <a:ext cx="2149560" cy="5976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Oval 18"/>
          <p:cNvSpPr/>
          <p:nvPr/>
        </p:nvSpPr>
        <p:spPr>
          <a:xfrm>
            <a:off x="5580000" y="1406160"/>
            <a:ext cx="499680" cy="499680"/>
          </a:xfrm>
          <a:prstGeom prst="ellipse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Box 19"/>
          <p:cNvSpPr/>
          <p:nvPr/>
        </p:nvSpPr>
        <p:spPr>
          <a:xfrm>
            <a:off x="4860000" y="1986120"/>
            <a:ext cx="1989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Instrumentation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20"/>
          <p:cNvSpPr/>
          <p:nvPr/>
        </p:nvSpPr>
        <p:spPr>
          <a:xfrm>
            <a:off x="4880160" y="2486160"/>
            <a:ext cx="1949760" cy="7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ASan: Shadow memory check before every read/write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AFL: Coverage counter at every basic block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ounded Rectangle 21"/>
          <p:cNvSpPr/>
          <p:nvPr/>
        </p:nvSpPr>
        <p:spPr>
          <a:xfrm>
            <a:off x="7030080" y="1285920"/>
            <a:ext cx="2149560" cy="509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Rectangle 22"/>
          <p:cNvSpPr/>
          <p:nvPr/>
        </p:nvSpPr>
        <p:spPr>
          <a:xfrm>
            <a:off x="7030080" y="1285920"/>
            <a:ext cx="2149560" cy="59760"/>
          </a:xfrm>
          <a:prstGeom prst="rect">
            <a:avLst/>
          </a:prstGeom>
          <a:solidFill>
            <a:srgbClr val="f39c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Oval 23"/>
          <p:cNvSpPr/>
          <p:nvPr/>
        </p:nvSpPr>
        <p:spPr>
          <a:xfrm>
            <a:off x="7830000" y="1406160"/>
            <a:ext cx="499680" cy="499680"/>
          </a:xfrm>
          <a:prstGeom prst="ellipse">
            <a:avLst/>
          </a:prstGeom>
          <a:solidFill>
            <a:srgbClr val="f39c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24"/>
          <p:cNvSpPr/>
          <p:nvPr/>
        </p:nvSpPr>
        <p:spPr>
          <a:xfrm>
            <a:off x="7110000" y="1986120"/>
            <a:ext cx="1989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39c12"/>
                </a:solidFill>
                <a:latin typeface="Calibri"/>
              </a:rPr>
              <a:t>Optimization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25"/>
          <p:cNvSpPr/>
          <p:nvPr/>
        </p:nvSpPr>
        <p:spPr>
          <a:xfrm>
            <a:off x="7130160" y="2486160"/>
            <a:ext cx="1949760" cy="7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Register liveness analysis to minimize overhead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Only save registers actually in use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ounded Rectangle 26"/>
          <p:cNvSpPr/>
          <p:nvPr/>
        </p:nvSpPr>
        <p:spPr>
          <a:xfrm>
            <a:off x="9280080" y="1285920"/>
            <a:ext cx="2149560" cy="509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Rectangle 27"/>
          <p:cNvSpPr/>
          <p:nvPr/>
        </p:nvSpPr>
        <p:spPr>
          <a:xfrm>
            <a:off x="9280080" y="1285920"/>
            <a:ext cx="2149560" cy="59760"/>
          </a:xfrm>
          <a:prstGeom prst="rect">
            <a:avLst/>
          </a:prstGeom>
          <a:solidFill>
            <a:srgbClr val="e74c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Oval 28"/>
          <p:cNvSpPr/>
          <p:nvPr/>
        </p:nvSpPr>
        <p:spPr>
          <a:xfrm>
            <a:off x="10080000" y="1406160"/>
            <a:ext cx="499680" cy="499680"/>
          </a:xfrm>
          <a:prstGeom prst="ellipse">
            <a:avLst/>
          </a:prstGeom>
          <a:solidFill>
            <a:srgbClr val="e74c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Box 29"/>
          <p:cNvSpPr/>
          <p:nvPr/>
        </p:nvSpPr>
        <p:spPr>
          <a:xfrm>
            <a:off x="9360000" y="1986120"/>
            <a:ext cx="1989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74c3c"/>
                </a:solidFill>
                <a:latin typeface="Calibri"/>
              </a:rPr>
              <a:t>Reassembly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30"/>
          <p:cNvSpPr/>
          <p:nvPr/>
        </p:nvSpPr>
        <p:spPr>
          <a:xfrm>
            <a:off x="9380160" y="2486160"/>
            <a:ext cx="1949760" cy="7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Compile modified assembly with GCC/Clang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232323"/>
                </a:solidFill>
                <a:latin typeface="Calibri"/>
              </a:rPr>
              <a:t>Output: instrumented binary ready for testing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"/>
          <p:cNvSpPr/>
          <p:nvPr/>
        </p:nvSpPr>
        <p:spPr>
          <a:xfrm>
            <a:off x="0" y="0"/>
            <a:ext cx="12191760" cy="104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TextBox 2"/>
          <p:cNvSpPr/>
          <p:nvPr/>
        </p:nvSpPr>
        <p:spPr>
          <a:xfrm>
            <a:off x="640080" y="100080"/>
            <a:ext cx="1079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Proposed Solution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3"/>
          <p:cNvSpPr/>
          <p:nvPr/>
        </p:nvSpPr>
        <p:spPr>
          <a:xfrm>
            <a:off x="640080" y="619920"/>
            <a:ext cx="10799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a0c4e8"/>
                </a:solidFill>
                <a:latin typeface="Calibri"/>
              </a:rPr>
              <a:t>How ASan instrumentation works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ectangle 4"/>
          <p:cNvSpPr/>
          <p:nvPr/>
        </p:nvSpPr>
        <p:spPr>
          <a:xfrm>
            <a:off x="0" y="1050120"/>
            <a:ext cx="12191760" cy="3564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5"/>
          <p:cNvSpPr/>
          <p:nvPr/>
        </p:nvSpPr>
        <p:spPr>
          <a:xfrm>
            <a:off x="11377440" y="6500160"/>
            <a:ext cx="44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b8d"/>
                </a:solidFill>
                <a:latin typeface="Calibri"/>
              </a:rPr>
              <a:t>9/16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ounded Rectangle 6"/>
          <p:cNvSpPr/>
          <p:nvPr/>
        </p:nvSpPr>
        <p:spPr>
          <a:xfrm>
            <a:off x="380160" y="1235880"/>
            <a:ext cx="6799680" cy="2999520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 w="12700">
            <a:solidFill>
              <a:srgbClr val="44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0" i="1" lang="en-US" sz="1000" spc="-1" strike="noStrike">
                <a:solidFill>
                  <a:srgbClr val="88cc88"/>
                </a:solidFill>
                <a:latin typeface="Consolas"/>
              </a:rPr>
              <a:t>Shadow Memory Check (before every memory access):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aaaaaa"/>
                </a:solidFill>
                <a:latin typeface="Consolas"/>
              </a:rPr>
              <a:t>Original: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</a:rPr>
              <a:t>  </a:t>
            </a:r>
            <a:r>
              <a:rPr b="0" lang="en-US" sz="1000" spc="-1" strike="noStrike">
                <a:solidFill>
                  <a:srgbClr val="e0e0e0"/>
                </a:solidFill>
                <a:latin typeface="Consolas"/>
              </a:rPr>
              <a:t>mov [rax+15], 0x58        ; write to memory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aaaaaa"/>
                </a:solidFill>
                <a:latin typeface="Consolas"/>
              </a:rPr>
              <a:t>With ASan: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66d9ef"/>
                </a:solidFill>
                <a:latin typeface="Consolas"/>
              </a:rPr>
              <a:t>  </a:t>
            </a:r>
            <a:r>
              <a:rPr b="0" lang="en-US" sz="1000" spc="-1" strike="noStrike">
                <a:solidFill>
                  <a:srgbClr val="66d9ef"/>
                </a:solidFill>
                <a:latin typeface="Consolas"/>
              </a:rPr>
              <a:t>lea  rdi, [rax+15]        ; get target address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66d9ef"/>
                </a:solidFill>
                <a:latin typeface="Consolas"/>
              </a:rPr>
              <a:t>  </a:t>
            </a:r>
            <a:r>
              <a:rPr b="0" lang="en-US" sz="1000" spc="-1" strike="noStrike">
                <a:solidFill>
                  <a:srgbClr val="66d9ef"/>
                </a:solidFill>
                <a:latin typeface="Consolas"/>
              </a:rPr>
              <a:t>shr  rdi, 3               ; lookup shadow memory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f92672"/>
                </a:solidFill>
                <a:latin typeface="Consolas"/>
              </a:rPr>
              <a:t>  </a:t>
            </a:r>
            <a:r>
              <a:rPr b="0" lang="en-US" sz="1000" spc="-1" strike="noStrike">
                <a:solidFill>
                  <a:srgbClr val="f92672"/>
                </a:solidFill>
                <a:latin typeface="Consolas"/>
              </a:rPr>
              <a:t>cmp  [rdi+offset], 0      ; is it poisoned?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f92672"/>
                </a:solidFill>
                <a:latin typeface="Consolas"/>
              </a:rPr>
              <a:t>  </a:t>
            </a:r>
            <a:r>
              <a:rPr b="0" lang="en-US" sz="1000" spc="-1" strike="noStrike">
                <a:solidFill>
                  <a:srgbClr val="f92672"/>
                </a:solidFill>
                <a:latin typeface="Consolas"/>
              </a:rPr>
              <a:t>jnz  __asan_report        ; YES = BUG FOUND!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a6e22e"/>
                </a:solidFill>
                <a:latin typeface="Consolas"/>
              </a:rPr>
              <a:t>  </a:t>
            </a:r>
            <a:r>
              <a:rPr b="0" lang="en-US" sz="1000" spc="-1" strike="noStrike">
                <a:solidFill>
                  <a:srgbClr val="a6e22e"/>
                </a:solidFill>
                <a:latin typeface="Consolas"/>
              </a:rPr>
              <a:t>mov  [rax+15], 0x58       ; NO = safe, proceed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Rounded Rectangle 7"/>
          <p:cNvSpPr/>
          <p:nvPr/>
        </p:nvSpPr>
        <p:spPr>
          <a:xfrm>
            <a:off x="7499880" y="1235880"/>
            <a:ext cx="4199760" cy="119952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19050">
            <a:solidFill>
              <a:srgbClr val="2e86a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</a:rPr>
              <a:t>Shadow Memory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1 byte tracks 8 bytes of real memory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1" lang="en-US" sz="1100" spc="-1" strike="noStrike">
                <a:solidFill>
                  <a:srgbClr val="27ae60"/>
                </a:solidFill>
                <a:latin typeface="Calibri"/>
              </a:rPr>
              <a:t>Only 12.5% memory overhead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8"/>
          <p:cNvSpPr/>
          <p:nvPr/>
        </p:nvSpPr>
        <p:spPr>
          <a:xfrm>
            <a:off x="380160" y="4536000"/>
            <a:ext cx="3999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b2a4a"/>
                </a:solidFill>
                <a:latin typeface="Calibri"/>
              </a:rPr>
              <a:t>Redzone Policy Comparison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7" name="Table 9"/>
          <p:cNvGraphicFramePr/>
          <p:nvPr/>
        </p:nvGraphicFramePr>
        <p:xfrm>
          <a:off x="380160" y="4885920"/>
          <a:ext cx="11199600" cy="1699560"/>
        </p:xfrm>
        <a:graphic>
          <a:graphicData uri="http://schemas.openxmlformats.org/drawingml/2006/table">
            <a:tbl>
              <a:tblPr/>
              <a:tblGrid>
                <a:gridCol w="3733200"/>
                <a:gridCol w="3733200"/>
                <a:gridCol w="3733200"/>
              </a:tblGrid>
              <a:tr h="4248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Memory Region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Source ASan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ASan-retrowrite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4248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Heap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Individual object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Individual object (same)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8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Stack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Individual var, 32-byte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Stack-frame, 8-byte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</a:tr>
              <a:tr h="4248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Global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Individual, padded 64-byte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No redzone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12191760" cy="104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640080" y="100080"/>
            <a:ext cx="1079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Proposed Solution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640080" y="619920"/>
            <a:ext cx="10799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a0c4e8"/>
                </a:solidFill>
                <a:latin typeface="Calibri"/>
              </a:rPr>
              <a:t>How AFL coverage instrumentation works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ectangle 4"/>
          <p:cNvSpPr/>
          <p:nvPr/>
        </p:nvSpPr>
        <p:spPr>
          <a:xfrm>
            <a:off x="0" y="1050120"/>
            <a:ext cx="12191760" cy="3564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5"/>
          <p:cNvSpPr/>
          <p:nvPr/>
        </p:nvSpPr>
        <p:spPr>
          <a:xfrm>
            <a:off x="11341440" y="6500160"/>
            <a:ext cx="516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b8d"/>
                </a:solidFill>
                <a:latin typeface="Calibri"/>
              </a:rPr>
              <a:t>10/16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ounded Rectangle 6"/>
          <p:cNvSpPr/>
          <p:nvPr/>
        </p:nvSpPr>
        <p:spPr>
          <a:xfrm>
            <a:off x="380160" y="1235880"/>
            <a:ext cx="5499720" cy="1199520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>
            <a:solidFill>
              <a:srgbClr val="44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88cc88"/>
                </a:solidFill>
                <a:latin typeface="Consolas"/>
              </a:rPr>
              <a:t>At every basic block, RetroWrite inserts: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200" spc="-1" strike="noStrike">
                <a:solidFill>
                  <a:srgbClr val="66d9ef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66d9ef"/>
                </a:solidFill>
                <a:latin typeface="Consolas"/>
              </a:rPr>
              <a:t>inc byte [coverage_map + BLOCK_ID]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en-US" sz="1000" spc="-1" strike="noStrike">
                <a:solidFill>
                  <a:srgbClr val="aaaaaa"/>
                </a:solidFill>
                <a:latin typeface="Consolas"/>
              </a:rPr>
              <a:t>; "I visited this block!"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Rounded Rectangle 7"/>
          <p:cNvSpPr/>
          <p:nvPr/>
        </p:nvSpPr>
        <p:spPr>
          <a:xfrm>
            <a:off x="6199920" y="1235880"/>
            <a:ext cx="5499720" cy="239976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19050">
            <a:solidFill>
              <a:srgbClr val="2e86a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</a:rPr>
              <a:t>How AFL Uses This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Run program with input, read coverage map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If input reaches NEW code paths → keep &amp; mutate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If no new paths → discard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Repeat millions of times to explore deep paths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8"/>
          <p:cNvSpPr/>
          <p:nvPr/>
        </p:nvSpPr>
        <p:spPr>
          <a:xfrm>
            <a:off x="380160" y="4035960"/>
            <a:ext cx="59997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b2a4a"/>
                </a:solidFill>
                <a:latin typeface="Calibri"/>
              </a:rPr>
              <a:t>Why RetroWrite is Better — Speed Comparison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6" name="Table 9"/>
          <p:cNvGraphicFramePr/>
          <p:nvPr/>
        </p:nvGraphicFramePr>
        <p:xfrm>
          <a:off x="380160" y="4435920"/>
          <a:ext cx="11199600" cy="1599840"/>
        </p:xfrm>
        <a:graphic>
          <a:graphicData uri="http://schemas.openxmlformats.org/drawingml/2006/table">
            <a:tbl>
              <a:tblPr/>
              <a:tblGrid>
                <a:gridCol w="3733200"/>
                <a:gridCol w="3733200"/>
                <a:gridCol w="3733200"/>
              </a:tblGrid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Speed (exec/sec)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% of Source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Source AFL (best possible)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4,790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100%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RetroWrite AFL (binary-only)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4,244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88.6%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</a:tr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QEMU AFL (old way)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~800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~17%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7" name="TextBox 10"/>
          <p:cNvSpPr/>
          <p:nvPr/>
        </p:nvSpPr>
        <p:spPr>
          <a:xfrm>
            <a:off x="380160" y="6235920"/>
            <a:ext cx="11199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2e86ab"/>
                </a:solidFill>
                <a:latin typeface="Calibri"/>
              </a:rPr>
              <a:t>RetroWrite achieves 88.6% of source-level speed — assembly looks like compiler output, compatible with afl-gcc directly.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1"/>
          <p:cNvSpPr/>
          <p:nvPr/>
        </p:nvSpPr>
        <p:spPr>
          <a:xfrm>
            <a:off x="0" y="0"/>
            <a:ext cx="12191760" cy="104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TextBox 2"/>
          <p:cNvSpPr/>
          <p:nvPr/>
        </p:nvSpPr>
        <p:spPr>
          <a:xfrm>
            <a:off x="640080" y="100080"/>
            <a:ext cx="1079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Completed Evaluation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3"/>
          <p:cNvSpPr/>
          <p:nvPr/>
        </p:nvSpPr>
        <p:spPr>
          <a:xfrm>
            <a:off x="640080" y="619920"/>
            <a:ext cx="10799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a0c4e8"/>
                </a:solidFill>
                <a:latin typeface="Calibri"/>
              </a:rPr>
              <a:t>What we did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ectangle 4"/>
          <p:cNvSpPr/>
          <p:nvPr/>
        </p:nvSpPr>
        <p:spPr>
          <a:xfrm>
            <a:off x="0" y="1050120"/>
            <a:ext cx="12191760" cy="3564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5"/>
          <p:cNvSpPr/>
          <p:nvPr/>
        </p:nvSpPr>
        <p:spPr>
          <a:xfrm>
            <a:off x="11341440" y="6500160"/>
            <a:ext cx="516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b8d"/>
                </a:solidFill>
                <a:latin typeface="Calibri"/>
              </a:rPr>
              <a:t>11/16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ounded Rectangle 6"/>
          <p:cNvSpPr/>
          <p:nvPr/>
        </p:nvSpPr>
        <p:spPr>
          <a:xfrm>
            <a:off x="380160" y="1235880"/>
            <a:ext cx="11199600" cy="99972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19050">
            <a:solidFill>
              <a:srgbClr val="2e86a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</a:rPr>
              <a:t>Experimental Setup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Machine: Ubuntu Linux, x86-64  |  Tools: RetroWrite (GitHub), AFL++, GCC, Clang  |  Libraries: Capstone, pyelftools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Rounded Rectangle 7"/>
          <p:cNvSpPr/>
          <p:nvPr/>
        </p:nvSpPr>
        <p:spPr>
          <a:xfrm>
            <a:off x="380160" y="2535840"/>
            <a:ext cx="3499560" cy="379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Rectangle 8"/>
          <p:cNvSpPr/>
          <p:nvPr/>
        </p:nvSpPr>
        <p:spPr>
          <a:xfrm>
            <a:off x="380160" y="2535840"/>
            <a:ext cx="3499560" cy="5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9"/>
          <p:cNvSpPr/>
          <p:nvPr/>
        </p:nvSpPr>
        <p:spPr>
          <a:xfrm>
            <a:off x="529920" y="2656080"/>
            <a:ext cx="3199680" cy="12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2a4a"/>
                </a:solidFill>
                <a:latin typeface="Calibri"/>
              </a:rPr>
              <a:t>Experiment 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1b2a4a"/>
                </a:solidFill>
                <a:latin typeface="Calibri"/>
              </a:rPr>
              <a:t>ASan Bug Detection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Used heap.c demo with heap overflow + use-after-free bugs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Compiled as PIE binary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Instrumented with RetroWrite ASan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ounded Rectangle 10"/>
          <p:cNvSpPr/>
          <p:nvPr/>
        </p:nvSpPr>
        <p:spPr>
          <a:xfrm>
            <a:off x="4079880" y="2535840"/>
            <a:ext cx="3499560" cy="379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Rectangle 11"/>
          <p:cNvSpPr/>
          <p:nvPr/>
        </p:nvSpPr>
        <p:spPr>
          <a:xfrm>
            <a:off x="4079880" y="2535840"/>
            <a:ext cx="3499560" cy="5976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TextBox 12"/>
          <p:cNvSpPr/>
          <p:nvPr/>
        </p:nvSpPr>
        <p:spPr>
          <a:xfrm>
            <a:off x="4230000" y="2656080"/>
            <a:ext cx="3199680" cy="10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e86ab"/>
                </a:solidFill>
                <a:latin typeface="Calibri"/>
              </a:rPr>
              <a:t>Experiment 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1b2a4a"/>
                </a:solidFill>
                <a:latin typeface="Calibri"/>
              </a:rPr>
              <a:t>Real-World Binary Rewriting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Rewrote bzip2 1.0.8 (106KB real compression tool)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Verified output is identical to original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Rounded Rectangle 13"/>
          <p:cNvSpPr/>
          <p:nvPr/>
        </p:nvSpPr>
        <p:spPr>
          <a:xfrm>
            <a:off x="7779960" y="2535840"/>
            <a:ext cx="3499560" cy="379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Rectangle 14"/>
          <p:cNvSpPr/>
          <p:nvPr/>
        </p:nvSpPr>
        <p:spPr>
          <a:xfrm>
            <a:off x="7779960" y="2535840"/>
            <a:ext cx="3499560" cy="5976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15"/>
          <p:cNvSpPr/>
          <p:nvPr/>
        </p:nvSpPr>
        <p:spPr>
          <a:xfrm>
            <a:off x="7930080" y="2656080"/>
            <a:ext cx="3199680" cy="10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Experiment 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1b2a4a"/>
                </a:solidFill>
                <a:latin typeface="Calibri"/>
              </a:rPr>
              <a:t>AFL Fuzzing Performance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Custom fuzz target with intentional bugs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Compared RetroWrite AFL vs source-level AFL speed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0" y="0"/>
            <a:ext cx="12191760" cy="104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TextBox 2"/>
          <p:cNvSpPr/>
          <p:nvPr/>
        </p:nvSpPr>
        <p:spPr>
          <a:xfrm>
            <a:off x="640080" y="100080"/>
            <a:ext cx="1079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Completed Evaluation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3"/>
          <p:cNvSpPr/>
          <p:nvPr/>
        </p:nvSpPr>
        <p:spPr>
          <a:xfrm>
            <a:off x="640080" y="619920"/>
            <a:ext cx="10799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a0c4e8"/>
                </a:solidFill>
                <a:latin typeface="Calibri"/>
              </a:rPr>
              <a:t>Results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ectangle 4"/>
          <p:cNvSpPr/>
          <p:nvPr/>
        </p:nvSpPr>
        <p:spPr>
          <a:xfrm>
            <a:off x="0" y="1050120"/>
            <a:ext cx="12191760" cy="3564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TextBox 5"/>
          <p:cNvSpPr/>
          <p:nvPr/>
        </p:nvSpPr>
        <p:spPr>
          <a:xfrm>
            <a:off x="11341440" y="6500160"/>
            <a:ext cx="516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b8d"/>
                </a:solidFill>
                <a:latin typeface="Calibri"/>
              </a:rPr>
              <a:t>12/16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6"/>
          <p:cNvSpPr/>
          <p:nvPr/>
        </p:nvSpPr>
        <p:spPr>
          <a:xfrm>
            <a:off x="380160" y="1235880"/>
            <a:ext cx="59997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</a:rPr>
              <a:t>ASan Bug Detection Results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9" name="Table 7"/>
          <p:cNvGraphicFramePr/>
          <p:nvPr/>
        </p:nvGraphicFramePr>
        <p:xfrm>
          <a:off x="380160" y="1586160"/>
          <a:ext cx="5499720" cy="1199880"/>
        </p:xfrm>
        <a:graphic>
          <a:graphicData uri="http://schemas.openxmlformats.org/drawingml/2006/table">
            <a:tbl>
              <a:tblPr/>
              <a:tblGrid>
                <a:gridCol w="1833120"/>
                <a:gridCol w="1833120"/>
                <a:gridCol w="1833120"/>
              </a:tblGrid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Bug Type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Original Binary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RetroWrite + ASan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Heap buffer overflow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74c3c"/>
                          </a:solidFill>
                          <a:latin typeface="Calibri"/>
                        </a:rPr>
                        <a:t>Not detected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7ae60"/>
                          </a:solidFill>
                          <a:latin typeface="Calibri"/>
                        </a:rPr>
                        <a:t>DETECTED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Use-after-free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e74c3c"/>
                          </a:solidFill>
                          <a:latin typeface="Calibri"/>
                        </a:rPr>
                        <a:t>Not detected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7ae60"/>
                          </a:solidFill>
                          <a:latin typeface="Calibri"/>
                        </a:rPr>
                        <a:t>DETECTED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210" name="TextBox 8"/>
          <p:cNvSpPr/>
          <p:nvPr/>
        </p:nvSpPr>
        <p:spPr>
          <a:xfrm>
            <a:off x="380160" y="3135960"/>
            <a:ext cx="59997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</a:rPr>
              <a:t>AFL Fuzzing Speed Comparison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1" name="Table 9"/>
          <p:cNvGraphicFramePr/>
          <p:nvPr/>
        </p:nvGraphicFramePr>
        <p:xfrm>
          <a:off x="380160" y="3485880"/>
          <a:ext cx="5499720" cy="1599840"/>
        </p:xfrm>
        <a:graphic>
          <a:graphicData uri="http://schemas.openxmlformats.org/drawingml/2006/table">
            <a:tbl>
              <a:tblPr/>
              <a:tblGrid>
                <a:gridCol w="1833120"/>
                <a:gridCol w="1833120"/>
                <a:gridCol w="1833120"/>
              </a:tblGrid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Speed (exec/sec)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% of Source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Source AFL (best possible)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4,790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100%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RetroWrite AFL (binary-only)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4,244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88.6%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</a:tr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QEMU AFL (old way)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~800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~17%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2" name="Rounded Rectangle 10"/>
          <p:cNvSpPr/>
          <p:nvPr/>
        </p:nvSpPr>
        <p:spPr>
          <a:xfrm>
            <a:off x="6300000" y="1436040"/>
            <a:ext cx="5399640" cy="149976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19050">
            <a:solidFill>
              <a:srgbClr val="2e86a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</a:rPr>
              <a:t>bzip2 Rewrite Result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200" spc="-1" strike="noStrike">
                <a:solidFill>
                  <a:srgbClr val="232323"/>
                </a:solidFill>
                <a:latin typeface="Calibri"/>
              </a:rPr>
              <a:t>Successfully rewritten (106KB)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Output identical to original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ounded Rectangle 11"/>
          <p:cNvSpPr/>
          <p:nvPr/>
        </p:nvSpPr>
        <p:spPr>
          <a:xfrm>
            <a:off x="6300000" y="3336120"/>
            <a:ext cx="5399640" cy="199980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19050">
            <a:solidFill>
              <a:srgbClr val="2e86a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</a:rPr>
              <a:t>Key Takeaways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7ae60"/>
                </a:solidFill>
                <a:latin typeface="Calibri"/>
              </a:rPr>
              <a:t>✔  </a:t>
            </a:r>
            <a:r>
              <a:rPr b="0" lang="en-US" sz="1100" spc="-1" strike="noStrike">
                <a:solidFill>
                  <a:srgbClr val="27ae60"/>
                </a:solidFill>
                <a:latin typeface="Calibri"/>
              </a:rPr>
              <a:t>ASan catches real bugs without source code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7ae60"/>
                </a:solidFill>
                <a:latin typeface="Calibri"/>
              </a:rPr>
              <a:t>✔  </a:t>
            </a:r>
            <a:r>
              <a:rPr b="0" lang="en-US" sz="1100" spc="-1" strike="noStrike">
                <a:solidFill>
                  <a:srgbClr val="27ae60"/>
                </a:solidFill>
                <a:latin typeface="Calibri"/>
              </a:rPr>
              <a:t>Fuzzing speed within 12% of source-level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7ae60"/>
                </a:solidFill>
                <a:latin typeface="Calibri"/>
              </a:rPr>
              <a:t>✔  </a:t>
            </a:r>
            <a:r>
              <a:rPr b="0" lang="en-US" sz="1100" spc="-1" strike="noStrike">
                <a:solidFill>
                  <a:srgbClr val="27ae60"/>
                </a:solidFill>
                <a:latin typeface="Calibri"/>
              </a:rPr>
              <a:t>Much faster than QEMU/Valgrind alternatives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1"/>
          <p:cNvSpPr/>
          <p:nvPr/>
        </p:nvSpPr>
        <p:spPr>
          <a:xfrm>
            <a:off x="0" y="0"/>
            <a:ext cx="12191760" cy="104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TextBox 2"/>
          <p:cNvSpPr/>
          <p:nvPr/>
        </p:nvSpPr>
        <p:spPr>
          <a:xfrm>
            <a:off x="640080" y="100080"/>
            <a:ext cx="1079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Completed Evaluation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3"/>
          <p:cNvSpPr/>
          <p:nvPr/>
        </p:nvSpPr>
        <p:spPr>
          <a:xfrm>
            <a:off x="640080" y="619920"/>
            <a:ext cx="10799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a0c4e8"/>
                </a:solidFill>
                <a:latin typeface="Calibri"/>
              </a:rPr>
              <a:t>Comparison with existing tools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ectangle 4"/>
          <p:cNvSpPr/>
          <p:nvPr/>
        </p:nvSpPr>
        <p:spPr>
          <a:xfrm>
            <a:off x="0" y="1050120"/>
            <a:ext cx="12191760" cy="3564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5"/>
          <p:cNvSpPr/>
          <p:nvPr/>
        </p:nvSpPr>
        <p:spPr>
          <a:xfrm>
            <a:off x="11341440" y="6500160"/>
            <a:ext cx="516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b8d"/>
                </a:solidFill>
                <a:latin typeface="Calibri"/>
              </a:rPr>
              <a:t>13/16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9" name="Table 6"/>
          <p:cNvGraphicFramePr/>
          <p:nvPr/>
        </p:nvGraphicFramePr>
        <p:xfrm>
          <a:off x="479880" y="1285920"/>
          <a:ext cx="11199600" cy="2799720"/>
        </p:xfrm>
        <a:graphic>
          <a:graphicData uri="http://schemas.openxmlformats.org/drawingml/2006/table">
            <a:tbl>
              <a:tblPr/>
              <a:tblGrid>
                <a:gridCol w="2799720"/>
                <a:gridCol w="2799720"/>
                <a:gridCol w="2799720"/>
                <a:gridCol w="2799720"/>
              </a:tblGrid>
              <a:tr h="4665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Needs Source?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Runtime Overhead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Bug Detection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4665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Source ASan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1.65x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Best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5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RetroWrite ASan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~1.65x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Good (80% of source)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</a:tr>
              <a:tr h="4665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Valgrind memcheck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20–300x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Lower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5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QEMU + AFL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10–100x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Low throughput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f7"/>
                    </a:solidFill>
                  </a:tcPr>
                </a:tc>
              </a:tr>
              <a:tr h="4665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RetroWrite + AFL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~1x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32323"/>
                          </a:solidFill>
                          <a:latin typeface="Calibri"/>
                        </a:rPr>
                        <a:t>Near source-level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0" name="Rounded Rectangle 7"/>
          <p:cNvSpPr/>
          <p:nvPr/>
        </p:nvSpPr>
        <p:spPr>
          <a:xfrm>
            <a:off x="1500120" y="4485960"/>
            <a:ext cx="8999640" cy="219960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19050">
            <a:solidFill>
              <a:srgbClr val="2e86a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b2a4a"/>
                </a:solidFill>
                <a:latin typeface="Calibri"/>
              </a:rPr>
              <a:t>Our Results Confirm Paper Claims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200" spc="-1" strike="noStrike">
                <a:solidFill>
                  <a:srgbClr val="27ae60"/>
                </a:solidFill>
                <a:latin typeface="Calibri"/>
              </a:rPr>
              <a:t>✔  </a:t>
            </a:r>
            <a:r>
              <a:rPr b="0" lang="en-US" sz="1200" spc="-1" strike="noStrike">
                <a:solidFill>
                  <a:srgbClr val="27ae60"/>
                </a:solidFill>
                <a:latin typeface="Calibri"/>
              </a:rPr>
              <a:t>ASan catches real bugs in binaries without source code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200" spc="-1" strike="noStrike">
                <a:solidFill>
                  <a:srgbClr val="27ae60"/>
                </a:solidFill>
                <a:latin typeface="Calibri"/>
              </a:rPr>
              <a:t>✔  </a:t>
            </a:r>
            <a:r>
              <a:rPr b="0" lang="en-US" sz="1200" spc="-1" strike="noStrike">
                <a:solidFill>
                  <a:srgbClr val="27ae60"/>
                </a:solidFill>
                <a:latin typeface="Calibri"/>
              </a:rPr>
              <a:t>Binary rewriting produces correct output on real-world software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200" spc="-1" strike="noStrike">
                <a:solidFill>
                  <a:srgbClr val="27ae60"/>
                </a:solidFill>
                <a:latin typeface="Calibri"/>
              </a:rPr>
              <a:t>✔  </a:t>
            </a:r>
            <a:r>
              <a:rPr b="0" lang="en-US" sz="1200" spc="-1" strike="noStrike">
                <a:solidFill>
                  <a:srgbClr val="27ae60"/>
                </a:solidFill>
                <a:latin typeface="Calibri"/>
              </a:rPr>
              <a:t>Fuzzing speed is within 12% of source-level AFL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200" spc="-1" strike="noStrike">
                <a:solidFill>
                  <a:srgbClr val="27ae60"/>
                </a:solidFill>
                <a:latin typeface="Calibri"/>
              </a:rPr>
              <a:t>✔  </a:t>
            </a:r>
            <a:r>
              <a:rPr b="0" lang="en-US" sz="1200" spc="-1" strike="noStrike">
                <a:solidFill>
                  <a:srgbClr val="27ae60"/>
                </a:solidFill>
                <a:latin typeface="Calibri"/>
              </a:rPr>
              <a:t>Much faster than QEMU/Valgrind alternatives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0" y="0"/>
            <a:ext cx="12191760" cy="104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2"/>
          <p:cNvSpPr/>
          <p:nvPr/>
        </p:nvSpPr>
        <p:spPr>
          <a:xfrm>
            <a:off x="640080" y="100080"/>
            <a:ext cx="1079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Planned Evaluation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3"/>
          <p:cNvSpPr/>
          <p:nvPr/>
        </p:nvSpPr>
        <p:spPr>
          <a:xfrm>
            <a:off x="640080" y="619920"/>
            <a:ext cx="10799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a0c4e8"/>
                </a:solidFill>
                <a:latin typeface="Calibri"/>
              </a:rPr>
              <a:t>What we plan to do for endterm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Rectangle 4"/>
          <p:cNvSpPr/>
          <p:nvPr/>
        </p:nvSpPr>
        <p:spPr>
          <a:xfrm>
            <a:off x="0" y="1050120"/>
            <a:ext cx="12191760" cy="3564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TextBox 5"/>
          <p:cNvSpPr/>
          <p:nvPr/>
        </p:nvSpPr>
        <p:spPr>
          <a:xfrm>
            <a:off x="11341440" y="6500160"/>
            <a:ext cx="516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b8d"/>
                </a:solidFill>
                <a:latin typeface="Calibri"/>
              </a:rPr>
              <a:t>14/16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Rounded Rectangle 6"/>
          <p:cNvSpPr/>
          <p:nvPr/>
        </p:nvSpPr>
        <p:spPr>
          <a:xfrm>
            <a:off x="380160" y="1235880"/>
            <a:ext cx="3499560" cy="299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Rectangle 7"/>
          <p:cNvSpPr/>
          <p:nvPr/>
        </p:nvSpPr>
        <p:spPr>
          <a:xfrm>
            <a:off x="380160" y="1235880"/>
            <a:ext cx="3499560" cy="5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TextBox 8"/>
          <p:cNvSpPr/>
          <p:nvPr/>
        </p:nvSpPr>
        <p:spPr>
          <a:xfrm>
            <a:off x="529920" y="1356120"/>
            <a:ext cx="3199680" cy="13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b2a4a"/>
                </a:solidFill>
                <a:latin typeface="Calibri"/>
              </a:rPr>
              <a:t>Extension 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1b2a4a"/>
                </a:solidFill>
                <a:latin typeface="Calibri"/>
              </a:rPr>
              <a:t>Fix rep Prefix ASan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rep movsb/stosb (memcpy/memset) not instrumented currently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Marked as TODO in source code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Plan: Add shadow memory checks for rep region boundaries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ounded Rectangle 9"/>
          <p:cNvSpPr/>
          <p:nvPr/>
        </p:nvSpPr>
        <p:spPr>
          <a:xfrm>
            <a:off x="4079880" y="1235880"/>
            <a:ext cx="3499560" cy="299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Rectangle 10"/>
          <p:cNvSpPr/>
          <p:nvPr/>
        </p:nvSpPr>
        <p:spPr>
          <a:xfrm>
            <a:off x="4079880" y="1235880"/>
            <a:ext cx="3499560" cy="5976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TextBox 11"/>
          <p:cNvSpPr/>
          <p:nvPr/>
        </p:nvSpPr>
        <p:spPr>
          <a:xfrm>
            <a:off x="4230000" y="1356120"/>
            <a:ext cx="3199680" cy="8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e86ab"/>
                </a:solidFill>
                <a:latin typeface="Calibri"/>
              </a:rPr>
              <a:t>Extension 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1b2a4a"/>
                </a:solidFill>
                <a:latin typeface="Calibri"/>
              </a:rPr>
              <a:t>Basic Block Coverage Pass (x64)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ARM64 version exists, x64 version is missing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Plan: Insert coverage counter at each basic block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Rounded Rectangle 12"/>
          <p:cNvSpPr/>
          <p:nvPr/>
        </p:nvSpPr>
        <p:spPr>
          <a:xfrm>
            <a:off x="7779960" y="1235880"/>
            <a:ext cx="3499560" cy="299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Rectangle 13"/>
          <p:cNvSpPr/>
          <p:nvPr/>
        </p:nvSpPr>
        <p:spPr>
          <a:xfrm>
            <a:off x="7779960" y="1235880"/>
            <a:ext cx="3499560" cy="5976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14"/>
          <p:cNvSpPr/>
          <p:nvPr/>
        </p:nvSpPr>
        <p:spPr>
          <a:xfrm>
            <a:off x="7930080" y="1356120"/>
            <a:ext cx="3199680" cy="13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27ae60"/>
                </a:solidFill>
                <a:latin typeface="Calibri"/>
              </a:rPr>
              <a:t>Extension 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1b2a4a"/>
                </a:solidFill>
                <a:latin typeface="Calibri"/>
              </a:rPr>
              <a:t>Stack Canary Insertion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Add canaries to binaries compiled without -fstack-protector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Push canary at function entry, verify before every ret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Catches stack buffer overflows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ounded Rectangle 15"/>
          <p:cNvSpPr/>
          <p:nvPr/>
        </p:nvSpPr>
        <p:spPr>
          <a:xfrm>
            <a:off x="380160" y="4536000"/>
            <a:ext cx="11199600" cy="169956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19050">
            <a:solidFill>
              <a:srgbClr val="2e86a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</a:rPr>
              <a:t>Evaluation Plan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Test rep fix on programs with memcpy/memset overflows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Compare coverage pass accuracy with source-level coverage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Test canary insertion on known stack overflow programs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Measure performance overhead of each extension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1"/>
          <p:cNvSpPr/>
          <p:nvPr/>
        </p:nvSpPr>
        <p:spPr>
          <a:xfrm>
            <a:off x="0" y="0"/>
            <a:ext cx="12191760" cy="104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2"/>
          <p:cNvSpPr/>
          <p:nvPr/>
        </p:nvSpPr>
        <p:spPr>
          <a:xfrm>
            <a:off x="640080" y="100080"/>
            <a:ext cx="1079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Summary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Rectangle 3"/>
          <p:cNvSpPr/>
          <p:nvPr/>
        </p:nvSpPr>
        <p:spPr>
          <a:xfrm>
            <a:off x="0" y="1050120"/>
            <a:ext cx="12191760" cy="3564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TextBox 4"/>
          <p:cNvSpPr/>
          <p:nvPr/>
        </p:nvSpPr>
        <p:spPr>
          <a:xfrm>
            <a:off x="11341440" y="6500160"/>
            <a:ext cx="516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b8d"/>
                </a:solidFill>
                <a:latin typeface="Calibri"/>
              </a:rPr>
              <a:t>15/16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Rounded Rectangle 5"/>
          <p:cNvSpPr/>
          <p:nvPr/>
        </p:nvSpPr>
        <p:spPr>
          <a:xfrm>
            <a:off x="380160" y="1235880"/>
            <a:ext cx="3499560" cy="3499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Rectangle 6"/>
          <p:cNvSpPr/>
          <p:nvPr/>
        </p:nvSpPr>
        <p:spPr>
          <a:xfrm>
            <a:off x="380160" y="1235880"/>
            <a:ext cx="3499560" cy="5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TextBox 7"/>
          <p:cNvSpPr/>
          <p:nvPr/>
        </p:nvSpPr>
        <p:spPr>
          <a:xfrm>
            <a:off x="529920" y="1356120"/>
            <a:ext cx="3199680" cy="14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500" spc="-1" strike="noStrike">
                <a:solidFill>
                  <a:srgbClr val="1b2a4a"/>
                </a:solidFill>
                <a:latin typeface="Calibri"/>
              </a:rPr>
              <a:t>What We Studied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RetroWrite: static binary rewriting framework (IEEE S&amp;P 2020)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Uses relocation info in PIC binaries for sound symbolization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Adds ASan (bug detection) and AFL (fuzzing) to binary-only software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ounded Rectangle 8"/>
          <p:cNvSpPr/>
          <p:nvPr/>
        </p:nvSpPr>
        <p:spPr>
          <a:xfrm>
            <a:off x="4079880" y="1235880"/>
            <a:ext cx="3499560" cy="3499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Rectangle 9"/>
          <p:cNvSpPr/>
          <p:nvPr/>
        </p:nvSpPr>
        <p:spPr>
          <a:xfrm>
            <a:off x="4079880" y="1235880"/>
            <a:ext cx="3499560" cy="5976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TextBox 10"/>
          <p:cNvSpPr/>
          <p:nvPr/>
        </p:nvSpPr>
        <p:spPr>
          <a:xfrm>
            <a:off x="4230000" y="1356120"/>
            <a:ext cx="3199680" cy="16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500" spc="-1" strike="noStrike">
                <a:solidFill>
                  <a:srgbClr val="2e86ab"/>
                </a:solidFill>
                <a:latin typeface="Calibri"/>
              </a:rPr>
              <a:t>What We Did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Set up RetroWrite and reproduced core functionality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Detected real memory bugs (heap overflow, use-after-free)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Rewrote bzip2 with correct output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Achieved 88.6% of source-level AFL fuzzing speed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ounded Rectangle 11"/>
          <p:cNvSpPr/>
          <p:nvPr/>
        </p:nvSpPr>
        <p:spPr>
          <a:xfrm>
            <a:off x="7779960" y="1235880"/>
            <a:ext cx="3499560" cy="3499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c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Rectangle 12"/>
          <p:cNvSpPr/>
          <p:nvPr/>
        </p:nvSpPr>
        <p:spPr>
          <a:xfrm>
            <a:off x="7779960" y="1235880"/>
            <a:ext cx="3499560" cy="5976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TextBox 13"/>
          <p:cNvSpPr/>
          <p:nvPr/>
        </p:nvSpPr>
        <p:spPr>
          <a:xfrm>
            <a:off x="7930080" y="1356120"/>
            <a:ext cx="3199680" cy="9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500" spc="-1" strike="noStrike">
                <a:solidFill>
                  <a:srgbClr val="27ae60"/>
                </a:solidFill>
                <a:latin typeface="Calibri"/>
              </a:rPr>
              <a:t>What We Plan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Fix rep prefix ASan limitation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Add coverage pass for x64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•  </a:t>
            </a:r>
            <a:r>
              <a:rPr b="0" lang="en-US" sz="1100" spc="-1" strike="noStrike">
                <a:solidFill>
                  <a:srgbClr val="232323"/>
                </a:solidFill>
                <a:latin typeface="Calibri"/>
              </a:rPr>
              <a:t>Implement stack canary insertion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Rounded Rectangle 14"/>
          <p:cNvSpPr/>
          <p:nvPr/>
        </p:nvSpPr>
        <p:spPr>
          <a:xfrm>
            <a:off x="1000080" y="5036040"/>
            <a:ext cx="9999720" cy="89964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19050">
            <a:solidFill>
              <a:srgbClr val="2e86a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2a4a"/>
                </a:solidFill>
                <a:latin typeface="Calibri"/>
              </a:rPr>
              <a:t>Key Takeaway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99"/>
              </a:spcBef>
              <a:spcAft>
                <a:spcPts val="99"/>
              </a:spcAft>
            </a:pPr>
            <a:r>
              <a:rPr b="0" i="1" lang="en-US" sz="1200" spc="-1" strike="noStrike">
                <a:solidFill>
                  <a:srgbClr val="2e86ab"/>
                </a:solidFill>
                <a:latin typeface="Calibri"/>
              </a:rPr>
              <a:t>For 64-bit PIC binaries, static rewriting with relocations gives source-level security tools without source code, at near-native speed.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angle 1"/>
          <p:cNvSpPr/>
          <p:nvPr/>
        </p:nvSpPr>
        <p:spPr>
          <a:xfrm>
            <a:off x="0" y="0"/>
            <a:ext cx="12191760" cy="104976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" name="TextBox 2"/>
          <p:cNvSpPr/>
          <p:nvPr/>
        </p:nvSpPr>
        <p:spPr>
          <a:xfrm>
            <a:off x="640080" y="100080"/>
            <a:ext cx="10799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References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Rectangle 3"/>
          <p:cNvSpPr/>
          <p:nvPr/>
        </p:nvSpPr>
        <p:spPr>
          <a:xfrm>
            <a:off x="0" y="1050120"/>
            <a:ext cx="12191760" cy="3564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TextBox 4"/>
          <p:cNvSpPr/>
          <p:nvPr/>
        </p:nvSpPr>
        <p:spPr>
          <a:xfrm>
            <a:off x="11341440" y="6500160"/>
            <a:ext cx="516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b7b8d"/>
                </a:solidFill>
                <a:latin typeface="Calibri"/>
              </a:rPr>
              <a:t>16/16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5"/>
          <p:cNvSpPr/>
          <p:nvPr/>
        </p:nvSpPr>
        <p:spPr>
          <a:xfrm>
            <a:off x="479880" y="1285920"/>
            <a:ext cx="5599800" cy="171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[1] S. Dinesh et al., "RetroWrite: Statically Instrumenting COTS Binaries for Fuzzing and Sanitization," IEEE S&amp;P, 2020.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[2] K. Serebryany et al., "AddressSanitizer: A Fast Address Sanity Checker," USENIX ATC, 2012.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[3] M. Zalewski, "American Fuzzy Lop (AFL)," 2017.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[4] F. Bellard, "QEMU, a Fast and Portable Dynamic Translator," USENIX ATC, 2005.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[5] N. Nethercote and J. Seward, "Valgrind: A Framework for Heavyweight Dynamic Binary Instrumentation," PLDI, 2007.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6"/>
          <p:cNvSpPr/>
          <p:nvPr/>
        </p:nvSpPr>
        <p:spPr>
          <a:xfrm>
            <a:off x="6300000" y="1285920"/>
            <a:ext cx="5599800" cy="15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[6] C.-K. Luk et al., "Pin: Building Customized Program Analysis Tools with Dynamic Instrumentation," PLDI, 2005.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[7] D. Bruening et al., "An Infrastructure for Adaptive Dynamic Optimization," CGO, 2003.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[8] S. Wang et al., "Reassembleable Disassembling (Uroboros)," USENIX Security, 2015.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[9] R. Wang et al., "Ramblr: Making Reassembly Great Again," NDSS, 2017.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000" spc="-1" strike="noStrike">
                <a:solidFill>
                  <a:srgbClr val="232323"/>
                </a:solidFill>
                <a:latin typeface="Calibri"/>
              </a:rPr>
              <a:t>[10] A. Bernat and B. Miller, "Anywhere, Any-Time Binary Instrumentation (Dyninst)," PASTE, 2011.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2026-03-15T16:38:53Z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