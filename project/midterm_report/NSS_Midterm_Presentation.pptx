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0000" y="140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Rewriting Binaries for Bug Hunting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230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A0C4E8"/>
                </a:solidFill>
                <a:latin typeface="Calibri"/>
              </a:defRPr>
            </a:pPr>
            <a:r>
              <a:t>Reproducing RetroWrite for Binary-Only Fuzzing and Sanitization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0" y="3200000"/>
            <a:ext cx="3200000" cy="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3500000"/>
            <a:ext cx="98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100"/>
              </a:spcBef>
              <a:spcAft>
                <a:spcPts val="10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SIL765: Networks &amp; System Security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300" b="0" i="0">
                <a:solidFill>
                  <a:srgbClr val="A0C4E8"/>
                </a:solidFill>
                <a:latin typeface="Calibri"/>
              </a:defRPr>
            </a:pPr>
            <a:r>
              <a:t>Semester 2, 2025-26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 b="0" i="0">
                <a:solidFill>
                  <a:srgbClr val="232323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Student Name 1 (Entry Number 1)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Student Name 2 (Entry Number 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 b="0" i="0">
                <a:solidFill>
                  <a:srgbClr val="232323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1300" b="0" i="0">
                <a:solidFill>
                  <a:srgbClr val="A0C4E8"/>
                </a:solidFill>
                <a:latin typeface="Calibri"/>
              </a:defRPr>
            </a:pPr>
            <a:r>
              <a:t>Instructor: Prof. [Instructor Name]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200" b="0" i="0">
                <a:solidFill>
                  <a:srgbClr val="6B7B8D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Why do we need this?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00" y="1286000"/>
            <a:ext cx="35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00" y="1286000"/>
            <a:ext cx="3500000" cy="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1406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" y="1836000"/>
            <a:ext cx="3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Most software is closed-source — we only get the compiled binary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Binaries have hidden memory bugs (buffer overflow, use-after-free, etc.)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Hackers exploit these bugs to steal data or take control of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0000" y="1286000"/>
            <a:ext cx="35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0000" y="1286000"/>
            <a:ext cx="3500000" cy="6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0000" y="1406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Existing Solutions Are Too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0000" y="1836000"/>
            <a:ext cx="3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ASan and AFL are great bug-finding tools, but need source code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For binaries: QEMU (10–100x slower), Valgrind (2–300x slower)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Slow = fewer test inputs = fewer bugs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0000" y="1286000"/>
            <a:ext cx="35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80000" y="1286000"/>
            <a:ext cx="3500000" cy="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0000" y="1406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  <a:latin typeface="Calibri"/>
              </a:defRPr>
            </a:pPr>
            <a:r>
              <a:t>RetroWrite’s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0000" y="1836000"/>
            <a:ext cx="3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Convert binary back to editable assembly using relocation info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Add security checks (ASan/AFL) to the assembly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•  Reassemble into a new binary — runs at near-native speed!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RetroWrite?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IEEE S&amp;P 2020 | 300+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" y="1236000"/>
            <a:ext cx="58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Calibri"/>
              </a:defRPr>
            </a:pPr>
            <a:r>
              <a:t>RetroWrite = Static Binary Rewriter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Takes a compiled binary as input (no source code needed)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Produces reassembleable assembly using relocation info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Allows adding security checks like ASan and AFL coverage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Reassembles into a new working binary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400" b="0" i="0">
                <a:solidFill>
                  <a:srgbClr val="23232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2E86AB"/>
                </a:solidFill>
                <a:latin typeface="Calibri"/>
              </a:defRPr>
            </a:pPr>
            <a:r>
              <a:t>Key Insight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Modern 64-bit PIC binaries have relocation info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RetroWrite uses these to identify addresses exactly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No guessing / no heuristics = no broken binaries!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0000" y="1336000"/>
            <a:ext cx="5200000" cy="22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The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400" b="0" i="0">
                <a:solidFill>
                  <a:srgbClr val="232323"/>
                </a:solidFill>
                <a:latin typeface="Calibri"/>
              </a:defRPr>
            </a:pP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1" i="0">
                <a:solidFill>
                  <a:srgbClr val="2E86AB"/>
                </a:solidFill>
                <a:latin typeface="Calibri"/>
              </a:defRPr>
            </a:pPr>
            <a:r>
              <a:t>Binary  →  Disassemble  →  Symbolize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1" i="0">
                <a:solidFill>
                  <a:srgbClr val="2E86AB"/>
                </a:solidFill>
                <a:latin typeface="Calibri"/>
              </a:defRPr>
            </a:pPr>
            <a:r>
              <a:t>Add Checks  →  Reassemble  →  Safe Binary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0000" y="3836000"/>
            <a:ext cx="5200000" cy="18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Paper Claims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AFL: 4.2x–5.6x faster than QEMU-based fuzzing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ASan: 3x faster than Valgrind, finds 80% more bugs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Key technical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00" y="1236000"/>
            <a:ext cx="54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00" y="1236000"/>
            <a:ext cx="48000" cy="25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1336000"/>
            <a:ext cx="51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B2A4A"/>
                </a:solidFill>
                <a:latin typeface="Calibri"/>
              </a:defRPr>
            </a:pPr>
            <a:r>
              <a:t>Binary Disassembly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Converting machine code back to assembly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Tools: IDA Pro, Ghidra, Capstone (used by RetroWrite)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0000" y="1236000"/>
            <a:ext cx="54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0000" y="1236000"/>
            <a:ext cx="48000" cy="250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0000" y="1336000"/>
            <a:ext cx="51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E86AB"/>
                </a:solidFill>
                <a:latin typeface="Calibri"/>
              </a:defRPr>
            </a:pPr>
            <a:r>
              <a:t>Position-Independent Code (PIC)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Binaries that can load at any address (ASLR)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Contain relocation entries — tell where addresses are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All modern Linux binaries are PIC by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00" y="3936000"/>
            <a:ext cx="54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00" y="3936000"/>
            <a:ext cx="48000" cy="25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" y="4036000"/>
            <a:ext cx="51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AddressSanitizer (ASan)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Memory error detector by Google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Shadow memory: 1 byte tracks 8 bytes of real memory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Checks every access; reports freed/OOB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0000" y="3936000"/>
            <a:ext cx="54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0000" y="3936000"/>
            <a:ext cx="48000" cy="250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0000" y="4036000"/>
            <a:ext cx="51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Coverage-Guided Fuzzing (AFL)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Feed random inputs, track code coverage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Prefer inputs that reach new code paths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Needs fast execution to test millions of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How binary rewriting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" y="1236000"/>
            <a:ext cx="54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  <a:latin typeface="Calibri"/>
              </a:defRPr>
            </a:pPr>
            <a:r>
              <a:t>Two Approaches to Binary Instrumentation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200" b="0" i="0">
                <a:solidFill>
                  <a:srgbClr val="232323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 b="1" i="0">
                <a:solidFill>
                  <a:srgbClr val="E74C3C"/>
                </a:solidFill>
                <a:latin typeface="Calibri"/>
              </a:defRPr>
            </a:pPr>
            <a:r>
              <a:t>1. Dynamic Binary Translation (DBT)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Translate code at runtime, block by block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Examples: QEMU, Valgrind, Intel PIN, DynamoRIO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Works on any binary, but very slow (10–100x overhead)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200" b="0" i="0">
                <a:solidFill>
                  <a:srgbClr val="232323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 b="1" i="0">
                <a:solidFill>
                  <a:srgbClr val="27AE60"/>
                </a:solidFill>
                <a:latin typeface="Calibri"/>
              </a:defRPr>
            </a:pPr>
            <a:r>
              <a:t>2. Static Binary Rewriting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Modify binary offline, before execution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Much faster (no runtime translation overhead)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Challenge: correctly identify addresses vs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336000"/>
            <a:ext cx="5500000" cy="48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The Symbolization Problem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400" b="0" i="0">
                <a:solidFill>
                  <a:srgbClr val="232323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When rewriting, you need to know which values are addresses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If you move code/data, addresses must be updated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Getting this wrong = broken binary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400" b="0" i="0">
                <a:solidFill>
                  <a:srgbClr val="232323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E74C3C"/>
                </a:solidFill>
                <a:latin typeface="Calibri"/>
              </a:defRPr>
            </a:pPr>
            <a:r>
              <a:t>✘  Old tools (Uroboros, ramblr) guess with heuristics — often wrong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200" b="0" i="0">
                <a:solidFill>
                  <a:srgbClr val="232323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 i="0">
                <a:solidFill>
                  <a:srgbClr val="27AE60"/>
                </a:solidFill>
                <a:latin typeface="Calibri"/>
              </a:defRPr>
            </a:pPr>
            <a:r>
              <a:t>✔  RetroWrite uses relocations — always correct for PIC binaries!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Comparison of existing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6/16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0000" y="1286000"/>
          <a:ext cx="112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666"/>
                <a:gridCol w="1866666"/>
                <a:gridCol w="1866666"/>
                <a:gridCol w="1866666"/>
                <a:gridCol w="1866666"/>
                <a:gridCol w="1866670"/>
              </a:tblGrid>
              <a:tr h="46666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Sound?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Fast?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Scalable?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Limitation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QEMU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DBT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 (10–100x)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Very slow for fuzzing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Valgrind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DBT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 (2–300x)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Too slow for fuzzing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Intel PIN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DBT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 (10–20%)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Runtime overhead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DynamoRIO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DBT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 (10–20%)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Runtime overhead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Uroboros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Wrong heuristics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ramblr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Still uses heuristics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DynInst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Unsound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RetroWrite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Only 64-bit PIC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500000" y="5786000"/>
            <a:ext cx="7200000" cy="5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RetroWrite is the first tool to achieve soundness + speed + scalability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System Model &amp; Threat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000" y="1236000"/>
            <a:ext cx="540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000" y="1336000"/>
            <a:ext cx="51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System 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Target: 64-bit Linux PIE binary (closed-source)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RetroWrite: Disassembles, symbolizes, produces assembly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Instrumentation Pass: Adds ASan / AFL coverage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Assembler: Recompiles to working binary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AFL Fuzzer: Tests with millions of random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236000"/>
            <a:ext cx="540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0000" y="1336000"/>
            <a:ext cx="51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Threat 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Attacker: Can send crafted inputs to the program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Goal: Exploit memory bugs for code execution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Defender: Security analyst testing binary software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Goal: Find bugs before attackers, using RetroWrite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000" y="5136000"/>
            <a:ext cx="11100000" cy="12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Key Challenges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Correctly symbolizing all addresses (no room for error)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Not breaking ABI (red zone, calling conventions)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Finding free registers for instrumentation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The RetroWrite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000" y="1286000"/>
            <a:ext cx="2150000" cy="5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0000" y="1286000"/>
            <a:ext cx="2150000" cy="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000" y="1406000"/>
            <a:ext cx="500000" cy="50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986000"/>
            <a:ext cx="19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" y="2486000"/>
            <a:ext cx="19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Load binary sections (.text, .data), read relocations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Disassemble using Capstone, build CFG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0000" y="1286000"/>
            <a:ext cx="2150000" cy="5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0000" y="1286000"/>
            <a:ext cx="2150000" cy="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0000" y="1406000"/>
            <a:ext cx="500000" cy="500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0000" y="1986000"/>
            <a:ext cx="19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Symbolization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0000" y="2486000"/>
            <a:ext cx="19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Replace hardcoded addresses with labels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Uses relocations for sound symbolization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Three types: control-flow, PC-relative,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000" y="1286000"/>
            <a:ext cx="2150000" cy="5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80000" y="1286000"/>
            <a:ext cx="2150000" cy="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80000" y="1406000"/>
            <a:ext cx="500000" cy="50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1986000"/>
            <a:ext cx="19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0000" y="2486000"/>
            <a:ext cx="19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ASan: Shadow memory check before every read/write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AFL: Coverage counter at every basic block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30000" y="1286000"/>
            <a:ext cx="2150000" cy="5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30000" y="1286000"/>
            <a:ext cx="2150000" cy="6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30000" y="1406000"/>
            <a:ext cx="500000" cy="500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0000" y="1986000"/>
            <a:ext cx="19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0000" y="2486000"/>
            <a:ext cx="19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Register liveness analysis to minimize overhead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Only save registers actually in 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0000" y="1286000"/>
            <a:ext cx="2150000" cy="5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0000" y="1286000"/>
            <a:ext cx="2150000" cy="6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0000" y="1406000"/>
            <a:ext cx="500000" cy="50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0000" y="1986000"/>
            <a:ext cx="19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Reassembly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0000" y="2486000"/>
            <a:ext cx="195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Compile modified assembly with GCC/Clang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• Output: instrumented binary ready for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How ASan instrumentation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000" y="1236000"/>
            <a:ext cx="6800000" cy="3000000"/>
          </a:xfrm>
          <a:prstGeom prst="round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i="1">
                <a:solidFill>
                  <a:srgbClr val="88CC88"/>
                </a:solidFill>
                <a:latin typeface="Consolas"/>
              </a:defRPr>
            </a:pPr>
            <a:r>
              <a:t>Shadow Memory Check (before every memory access):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AAAAA"/>
                </a:solidFill>
                <a:latin typeface="Consolas"/>
              </a:defRPr>
            </a:pPr>
            <a:r>
              <a:t>Original: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mov [rax+15], 0x58        ; write to memory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AAAAA"/>
                </a:solidFill>
                <a:latin typeface="Consolas"/>
              </a:defRPr>
            </a:pPr>
            <a:r>
              <a:t>With ASan: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6D9EF"/>
                </a:solidFill>
                <a:latin typeface="Consolas"/>
              </a:defRPr>
            </a:pPr>
            <a:r>
              <a:t>  lea  rdi, [rax+15]        ; get target address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6D9EF"/>
                </a:solidFill>
                <a:latin typeface="Consolas"/>
              </a:defRPr>
            </a:pPr>
            <a:r>
              <a:t>  shr  rdi, 3               ; lookup shadow memory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92672"/>
                </a:solidFill>
                <a:latin typeface="Consolas"/>
              </a:defRPr>
            </a:pPr>
            <a:r>
              <a:t>  cmp  [rdi+offset], 0      ; is it poisoned?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92672"/>
                </a:solidFill>
                <a:latin typeface="Consolas"/>
              </a:defRPr>
            </a:pPr>
            <a:r>
              <a:t>  jnz  __asan_report        ; YES = BUG FOUND!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 mov  [rax+15], 0x58       ; NO = safe, proceed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0000" y="1236000"/>
            <a:ext cx="4200000" cy="12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Shadow Memory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1 byte tracks 8 bytes of real memory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1" i="0">
                <a:solidFill>
                  <a:srgbClr val="27AE60"/>
                </a:solidFill>
                <a:latin typeface="Calibri"/>
              </a:defRPr>
            </a:pPr>
            <a:r>
              <a:t>Only 12.5% memory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4536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2A4A"/>
                </a:solidFill>
                <a:latin typeface="Calibri"/>
              </a:defRPr>
            </a:pPr>
            <a:r>
              <a:t>Redzone Policy Comparison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0000" y="4886000"/>
          <a:ext cx="1120000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425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 Region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ASan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ASan-retrowrite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Heap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Individual object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Individual object (same)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Stack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Individual var, 32-byte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Stack-frame, 8-byte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25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Individual, padded 64-byte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 redzone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How AFL coverage instrumentation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000" y="1236000"/>
            <a:ext cx="5500000" cy="1200000"/>
          </a:xfrm>
          <a:prstGeom prst="roundRect">
            <a:avLst/>
          </a:prstGeom>
          <a:solidFill>
            <a:srgbClr val="2D2D2D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i="1">
                <a:solidFill>
                  <a:srgbClr val="88CC88"/>
                </a:solidFill>
                <a:latin typeface="Consolas"/>
              </a:defRPr>
            </a:pPr>
            <a:r>
              <a:t>At every basic block, RetroWrite inserts:</a:t>
            </a:r>
          </a:p>
          <a:p>
            <a:pPr>
              <a:spcBef>
                <a:spcPts val="600"/>
              </a:spcBef>
              <a:defRPr sz="1200">
                <a:solidFill>
                  <a:srgbClr val="66D9EF"/>
                </a:solidFill>
                <a:latin typeface="Consolas"/>
              </a:defRPr>
            </a:pPr>
            <a:r>
              <a:t>  inc byte [coverage_map + BLOCK_ID]</a:t>
            </a:r>
          </a:p>
          <a:p>
            <a:pPr>
              <a:defRPr sz="1000">
                <a:solidFill>
                  <a:srgbClr val="AAAAAA"/>
                </a:solidFill>
                <a:latin typeface="Consolas"/>
              </a:defRPr>
            </a:pPr>
            <a:r>
              <a:t>  ; "I visited this block!"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236000"/>
            <a:ext cx="5500000" cy="24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How AFL Uses This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Run program with input, read coverage map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If input reaches NEW code paths → keep &amp; mutate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If no new paths → discard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•  Repeat millions of times to explore deep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4036000"/>
            <a:ext cx="6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2A4A"/>
                </a:solidFill>
                <a:latin typeface="Calibri"/>
              </a:defRPr>
            </a:pPr>
            <a:r>
              <a:t>Why RetroWrite is Better — Speed Comparison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0000" y="4436000"/>
          <a:ext cx="112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 (exec/sec)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Source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Source AFL (best possible)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4,790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RetroWrite AFL (binary-only)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4,244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88.6%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QEMU AFL (old way)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~800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~17%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0000" y="6236000"/>
            <a:ext cx="11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E86AB"/>
                </a:solidFill>
                <a:latin typeface="Calibri"/>
              </a:defRPr>
            </a:pPr>
            <a:r>
              <a:t>RetroWrite achieves 88.6% of source-level speed — assembly looks like compiler output, compatible with afl-gcc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What we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000" y="1236000"/>
            <a:ext cx="11200000" cy="10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Experimental Setup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32323"/>
                </a:solidFill>
                <a:latin typeface="Calibri"/>
              </a:defRPr>
            </a:pPr>
            <a:r>
              <a:t>Machine: Ubuntu Linux, x86-64  |  Tools: RetroWrite (GitHub), AFL++, GCC, Clang  |  Libraries: Capstone, pyelftools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000" y="2536000"/>
            <a:ext cx="35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0000" y="2536000"/>
            <a:ext cx="3500000" cy="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000" y="2656000"/>
            <a:ext cx="32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2A4A"/>
                </a:solidFill>
                <a:latin typeface="Calibri"/>
              </a:defRPr>
            </a:pPr>
            <a:r>
              <a:t>Experiment 1</a:t>
            </a:r>
          </a:p>
          <a:p>
            <a:pPr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ASan Bug Detection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Used heap.c demo with heap overflow + use-after-free bugs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Compiled as PIE binary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Instrumented with RetroWrite ASan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0000" y="2536000"/>
            <a:ext cx="35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80000" y="2536000"/>
            <a:ext cx="3500000" cy="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0000" y="2656000"/>
            <a:ext cx="32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86AB"/>
                </a:solidFill>
                <a:latin typeface="Calibri"/>
              </a:defRPr>
            </a:pPr>
            <a:r>
              <a:t>Experiment 2</a:t>
            </a:r>
          </a:p>
          <a:p>
            <a:pPr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Real-World Binary Rewriting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Rewrote bzip2 1.0.8 (106KB real compression tool)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Verified output is identical to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80000" y="2536000"/>
            <a:ext cx="35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80000" y="2536000"/>
            <a:ext cx="3500000" cy="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2656000"/>
            <a:ext cx="32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AE60"/>
                </a:solidFill>
                <a:latin typeface="Calibri"/>
              </a:defRPr>
            </a:pPr>
            <a:r>
              <a:t>Experiment 3</a:t>
            </a:r>
          </a:p>
          <a:p>
            <a:pPr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AFL Fuzzing Performance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Custom fuzz target with intentional bugs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Compared RetroWrite AFL vs source-level AFL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12/16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236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  <a:latin typeface="Calibri"/>
              </a:defRPr>
            </a:pPr>
            <a:r>
              <a:t>ASan Bug Detection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0000" y="1586000"/>
          <a:ext cx="55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333"/>
                <a:gridCol w="1833333"/>
                <a:gridCol w="1833334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Bug Type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Binary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RetroWrite + ASan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Heap buffer overflow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Not detected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DETECTED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Use-after-free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Not detected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DETECTED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0000" y="3136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  <a:latin typeface="Calibri"/>
              </a:defRPr>
            </a:pPr>
            <a:r>
              <a:t>AFL Fuzzing Speed Comparison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0000" y="3486000"/>
          <a:ext cx="55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333"/>
                <a:gridCol w="1833333"/>
                <a:gridCol w="1833334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 (exec/sec)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Source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Source AFL (best possible)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4,790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RetroWrite AFL (binary-only)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4,244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88.6%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QEMU AFL (old way)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~800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~17%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0000" y="1436000"/>
            <a:ext cx="5400000" cy="15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bzip2 Rewrite Result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0" i="0">
                <a:solidFill>
                  <a:srgbClr val="232323"/>
                </a:solidFill>
                <a:latin typeface="Calibri"/>
              </a:defRPr>
            </a:pPr>
            <a:r>
              <a:t>Successfully rewritten (106KB)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 b="1" i="0">
                <a:solidFill>
                  <a:srgbClr val="27AE60"/>
                </a:solidFill>
                <a:latin typeface="Calibri"/>
              </a:defRPr>
            </a:pPr>
            <a:r>
              <a:t>Output identical to 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3336000"/>
            <a:ext cx="5400000" cy="20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Key Takeaways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7AE60"/>
                </a:solidFill>
                <a:latin typeface="Calibri"/>
              </a:defRPr>
            </a:pPr>
            <a:r>
              <a:t>✔  ASan catches real bugs without source code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7AE60"/>
                </a:solidFill>
                <a:latin typeface="Calibri"/>
              </a:defRPr>
            </a:pPr>
            <a:r>
              <a:t>✔  Fuzzing speed within 12% of source-level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 i="0">
                <a:solidFill>
                  <a:srgbClr val="27AE60"/>
                </a:solidFill>
                <a:latin typeface="Calibri"/>
              </a:defRPr>
            </a:pPr>
            <a:r>
              <a:t>✔  Much faster than QEMU/Valgrind alternatives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Comparison with existing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13/16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0000" y="1286000"/>
          <a:ext cx="112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  <a:gridCol w="2800000"/>
                <a:gridCol w="2800000"/>
              </a:tblGrid>
              <a:tr h="46666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Needs Source?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Runtime Overhead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Bug Detection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Source ASan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1.65x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RetroWrite ASan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~1.65x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Good (80% of source)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Valgrind memcheck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20–300x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QEMU + AFL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10–100x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Low throughput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</a:tr>
              <a:tr h="4666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RetroWrite + AFL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~1x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  <a:latin typeface="Calibri"/>
                        </a:defRPr>
                      </a:pPr>
                      <a:r>
                        <a:t>Near source-level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500000" y="4486000"/>
            <a:ext cx="9000000" cy="22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Our Results Confirm Paper Claims</a:t>
            </a:r>
          </a:p>
          <a:p>
            <a:pPr algn="ctr">
              <a:spcBef>
                <a:spcPts val="300"/>
              </a:spcBef>
              <a:defRPr sz="1200">
                <a:solidFill>
                  <a:srgbClr val="27AE60"/>
                </a:solidFill>
                <a:latin typeface="Calibri"/>
              </a:defRPr>
            </a:pPr>
            <a:r>
              <a:t>✔  ASan catches real bugs in binaries without source code</a:t>
            </a:r>
          </a:p>
          <a:p>
            <a:pPr algn="ctr">
              <a:spcBef>
                <a:spcPts val="300"/>
              </a:spcBef>
              <a:defRPr sz="1200">
                <a:solidFill>
                  <a:srgbClr val="27AE60"/>
                </a:solidFill>
                <a:latin typeface="Calibri"/>
              </a:defRPr>
            </a:pPr>
            <a:r>
              <a:t>✔  Binary rewriting produces correct output on real-world software</a:t>
            </a:r>
          </a:p>
          <a:p>
            <a:pPr algn="ctr">
              <a:spcBef>
                <a:spcPts val="300"/>
              </a:spcBef>
              <a:defRPr sz="1200">
                <a:solidFill>
                  <a:srgbClr val="27AE60"/>
                </a:solidFill>
                <a:latin typeface="Calibri"/>
              </a:defRPr>
            </a:pPr>
            <a:r>
              <a:t>✔  Fuzzing speed is within 12% of source-level AFL</a:t>
            </a:r>
          </a:p>
          <a:p>
            <a:pPr algn="ctr">
              <a:spcBef>
                <a:spcPts val="300"/>
              </a:spcBef>
              <a:defRPr sz="1200">
                <a:solidFill>
                  <a:srgbClr val="27AE60"/>
                </a:solidFill>
                <a:latin typeface="Calibri"/>
              </a:defRPr>
            </a:pPr>
            <a:r>
              <a:t>✔  Much faster than QEMU/Valgrind alternatives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Planned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6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0C4E8"/>
                </a:solidFill>
                <a:latin typeface="Calibri"/>
              </a:defRPr>
            </a:pPr>
            <a:r>
              <a:t>What we plan to do for endterm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000" y="1236000"/>
            <a:ext cx="3500000" cy="3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000" y="1236000"/>
            <a:ext cx="3500000" cy="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000" y="1356000"/>
            <a:ext cx="32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Extension 1</a:t>
            </a:r>
          </a:p>
          <a:p>
            <a:pPr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Fix rep Prefix ASan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rep movsb/stosb (memcpy/memset) not instrumented currently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Marked as TODO in source code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Plan: Add shadow memory checks for rep region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0000" y="1236000"/>
            <a:ext cx="3500000" cy="3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80000" y="1236000"/>
            <a:ext cx="3500000" cy="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0000" y="1356000"/>
            <a:ext cx="32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6AB"/>
                </a:solidFill>
                <a:latin typeface="Calibri"/>
              </a:defRPr>
            </a:pPr>
            <a:r>
              <a:t>Extension 2</a:t>
            </a:r>
          </a:p>
          <a:p>
            <a:pPr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Basic Block Coverage Pass (x64)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ARM64 version exists, x64 version is missing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Plan: Insert coverage counter at each basic 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80000" y="1236000"/>
            <a:ext cx="3500000" cy="3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0000" y="1236000"/>
            <a:ext cx="3500000" cy="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0000" y="1356000"/>
            <a:ext cx="32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AE60"/>
                </a:solidFill>
                <a:latin typeface="Calibri"/>
              </a:defRPr>
            </a:pPr>
            <a:r>
              <a:t>Extension 3</a:t>
            </a:r>
          </a:p>
          <a:p>
            <a:pPr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Stack Canary Insertion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Add canaries to binaries compiled without -fstack-protector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Push canary at function entry, verify before every ret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232323"/>
                </a:solidFill>
                <a:latin typeface="Calibri"/>
              </a:defRPr>
            </a:pPr>
            <a:r>
              <a:t>•  Catches stack buffer overflows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000" y="4536000"/>
            <a:ext cx="11200000" cy="17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Evaluation Plan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 i="0">
                <a:solidFill>
                  <a:srgbClr val="232323"/>
                </a:solidFill>
                <a:latin typeface="Calibri"/>
              </a:defRPr>
            </a:pPr>
            <a:r>
              <a:t>•  Test rep fix on programs with memcpy/memset overflows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 i="0">
                <a:solidFill>
                  <a:srgbClr val="232323"/>
                </a:solidFill>
                <a:latin typeface="Calibri"/>
              </a:defRPr>
            </a:pPr>
            <a:r>
              <a:t>•  Compare coverage pass accuracy with source-level coverage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 i="0">
                <a:solidFill>
                  <a:srgbClr val="232323"/>
                </a:solidFill>
                <a:latin typeface="Calibri"/>
              </a:defRPr>
            </a:pPr>
            <a:r>
              <a:t>•  Test canary insertion on known stack overflow programs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0" i="0">
                <a:solidFill>
                  <a:srgbClr val="232323"/>
                </a:solidFill>
                <a:latin typeface="Calibri"/>
              </a:defRPr>
            </a:pPr>
            <a:r>
              <a:t>•  Measure performance overhead of each extension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000" y="1236000"/>
            <a:ext cx="35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000" y="1236000"/>
            <a:ext cx="3500000" cy="6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000" y="1356000"/>
            <a:ext cx="3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What We Studied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RetroWrite: static binary rewriting framework (IEEE S&amp;P 2020)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Uses relocation info in PIC binaries for sound symbolization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Adds ASan (bug detection) and AFL (fuzzing) to binary-only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0000" y="1236000"/>
            <a:ext cx="35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0000" y="1236000"/>
            <a:ext cx="3500000" cy="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0000" y="1356000"/>
            <a:ext cx="3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E86AB"/>
                </a:solidFill>
                <a:latin typeface="Calibri"/>
              </a:defRPr>
            </a:pPr>
            <a:r>
              <a:t>What We Did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Set up RetroWrite and reproduced core functionality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Detected real memory bugs (heap overflow, use-after-free)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Rewrote bzip2 with correct output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Achieved 88.6% of source-level AFL fuzzing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0000" y="1236000"/>
            <a:ext cx="35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0000" y="1236000"/>
            <a:ext cx="3500000" cy="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0000" y="1356000"/>
            <a:ext cx="3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7AE60"/>
                </a:solidFill>
                <a:latin typeface="Calibri"/>
              </a:defRPr>
            </a:pPr>
            <a:r>
              <a:t>What We Plan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Fix rep prefix ASan limitation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Add coverage pass for x64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232323"/>
                </a:solidFill>
                <a:latin typeface="Calibri"/>
              </a:defRPr>
            </a:pPr>
            <a:r>
              <a:t>•  Implement stack canary insertion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000" y="5036000"/>
            <a:ext cx="10000000" cy="9000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Key Takeaway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200" b="0" i="1">
                <a:solidFill>
                  <a:srgbClr val="2E86AB"/>
                </a:solidFill>
                <a:latin typeface="Calibri"/>
              </a:defRPr>
            </a:pPr>
            <a:r>
              <a:t>For 64-bit PIC binaries, static rewriting with relocations gives source-level security tools without source code, at near-native speed.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100000"/>
            <a:ext cx="1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8D"/>
                </a:solidFill>
                <a:latin typeface="Calibri"/>
              </a:defRPr>
            </a:pPr>
            <a:r>
              <a:t>16/16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" y="1286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[1] S. Dinesh et al., "RetroWrite: Statically Instrumenting COTS Binaries for Fuzzing and Sanitization," IEEE S&amp;P, 2020.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[2] K. Serebryany et al., "AddressSanitizer: A Fast Address Sanity Checker," USENIX ATC, 2012.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[3] M. Zalewski, "American Fuzzy Lop (AFL)," 2017.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[4] F. Bellard, "QEMU, a Fast and Portable Dynamic Translator," USENIX ATC, 2005.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[5] N. Nethercote and J. Seward, "Valgrind: A Framework for Heavyweight Dynamic Binary Instrumentation," PLDI, 2007.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286000"/>
            <a:ext cx="56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[6] C.-K. Luk et al., "Pin: Building Customized Program Analysis Tools with Dynamic Instrumentation," PLDI, 2005.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[7] D. Bruening et al., "An Infrastructure for Adaptive Dynamic Optimization," CGO, 2003.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[8] S. Wang et al., "Reassembleable Disassembling (Uroboros)," USENIX Security, 2015.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[9] R. Wang et al., "Ramblr: Making Reassembly Great Again," NDSS, 2017.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[10] A. Bernat and B. Miller, "Anywhere, Any-Time Binary Instrumentation (Dyninst)," PASTE,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